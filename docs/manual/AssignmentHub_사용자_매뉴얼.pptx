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597d111efb84732" /><Relationship Type="http://schemas.openxmlformats.org/officeDocument/2006/relationships/extended-properties" Target="/docProps/app.xml" Id="R239d27d6a18245ff" /><Relationship Type="http://schemas.openxmlformats.org/officeDocument/2006/relationships/officeDocument" Target="/ppt/presentation.xml" Id="R3bcf6e44f81b4bd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90b8857c575471d"/>
  </p:sldMasterIdLst>
  <p:notesMasterIdLst>
    <p:notesMasterId xmlns:r="http://schemas.openxmlformats.org/officeDocument/2006/relationships" r:id="R2f3d9e2de7f44cf2"/>
  </p:notesMasterIdLst>
  <p:sldIdLst>
    <p:sldId xmlns:r="http://schemas.openxmlformats.org/officeDocument/2006/relationships" id="256" r:id="Rdafcaed8643c4791"/>
    <p:sldId xmlns:r="http://schemas.openxmlformats.org/officeDocument/2006/relationships" id="257" r:id="Rbebdc1d9dbdf4587"/>
    <p:sldId xmlns:r="http://schemas.openxmlformats.org/officeDocument/2006/relationships" id="258" r:id="Rb77653f791784966"/>
    <p:sldId xmlns:r="http://schemas.openxmlformats.org/officeDocument/2006/relationships" id="259" r:id="Re4cd5ddc5dcc4758"/>
    <p:sldId xmlns:r="http://schemas.openxmlformats.org/officeDocument/2006/relationships" id="260" r:id="Rd09a41405e124caa"/>
    <p:sldId xmlns:r="http://schemas.openxmlformats.org/officeDocument/2006/relationships" id="261" r:id="R8b21135e0f7e4ead"/>
    <p:sldId xmlns:r="http://schemas.openxmlformats.org/officeDocument/2006/relationships" id="262" r:id="Rb89b3c9707144cb6"/>
    <p:sldId xmlns:r="http://schemas.openxmlformats.org/officeDocument/2006/relationships" id="263" r:id="Rc20b48b6efdc4265"/>
    <p:sldId xmlns:r="http://schemas.openxmlformats.org/officeDocument/2006/relationships" id="264" r:id="R239985c5590545ff"/>
    <p:sldId xmlns:r="http://schemas.openxmlformats.org/officeDocument/2006/relationships" id="265" r:id="Rc244a45d31fb45f4"/>
    <p:sldId xmlns:r="http://schemas.openxmlformats.org/officeDocument/2006/relationships" id="266" r:id="Rd71961683c4d4ba1"/>
    <p:sldId xmlns:r="http://schemas.openxmlformats.org/officeDocument/2006/relationships" id="267" r:id="R85285deb68b04f6f"/>
    <p:sldId xmlns:r="http://schemas.openxmlformats.org/officeDocument/2006/relationships" id="268" r:id="Rb0ec26ef4a47490d"/>
    <p:sldId xmlns:r="http://schemas.openxmlformats.org/officeDocument/2006/relationships" id="269" r:id="Recfaaf1345c048e2"/>
    <p:sldId xmlns:r="http://schemas.openxmlformats.org/officeDocument/2006/relationships" id="270" r:id="R0cddd67093b04933"/>
    <p:sldId xmlns:r="http://schemas.openxmlformats.org/officeDocument/2006/relationships" id="271" r:id="R2b24a766d90049ad"/>
    <p:sldId xmlns:r="http://schemas.openxmlformats.org/officeDocument/2006/relationships" id="272" r:id="R9543a747c71a4c3d"/>
    <p:sldId xmlns:r="http://schemas.openxmlformats.org/officeDocument/2006/relationships" id="273" r:id="R6dfe3e5870da4f41"/>
    <p:sldId xmlns:r="http://schemas.openxmlformats.org/officeDocument/2006/relationships" id="274" r:id="R5bf27fbe1039458e"/>
    <p:sldId xmlns:r="http://schemas.openxmlformats.org/officeDocument/2006/relationships" id="275" r:id="R528422b6d0cf4c69"/>
    <p:sldId xmlns:r="http://schemas.openxmlformats.org/officeDocument/2006/relationships" id="276" r:id="R3583bce40b184ca9"/>
    <p:sldId xmlns:r="http://schemas.openxmlformats.org/officeDocument/2006/relationships" id="277" r:id="R08004528e0e44804"/>
    <p:sldId xmlns:r="http://schemas.openxmlformats.org/officeDocument/2006/relationships" id="278" r:id="Rf03aa78b9a00448e"/>
    <p:sldId xmlns:r="http://schemas.openxmlformats.org/officeDocument/2006/relationships" id="279" r:id="R0e642e9deebd4f24"/>
    <p:sldId xmlns:r="http://schemas.openxmlformats.org/officeDocument/2006/relationships" id="280" r:id="R07f70276adc548b1"/>
    <p:sldId xmlns:r="http://schemas.openxmlformats.org/officeDocument/2006/relationships" id="281" r:id="R3b575efd020b4d8d"/>
    <p:sldId xmlns:r="http://schemas.openxmlformats.org/officeDocument/2006/relationships" id="282" r:id="R6dc7b823ed444e49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4209e9cc32742a6" /><Relationship Type="http://schemas.openxmlformats.org/officeDocument/2006/relationships/slideMaster" Target="/ppt/slideMasters/slideMaster1.xml" Id="Rb90b8857c575471d" /><Relationship Type="http://schemas.openxmlformats.org/officeDocument/2006/relationships/notesMaster" Target="/ppt/notesMasters/notesMaster1.xml" Id="R2f3d9e2de7f44cf2" /><Relationship Type="http://schemas.openxmlformats.org/officeDocument/2006/relationships/presProps" Target="/ppt/presProps.xml" Id="R4a86e56353124d00" /><Relationship Type="http://schemas.openxmlformats.org/officeDocument/2006/relationships/tableStyles" Target="/ppt/tableStyles.xml" Id="R04be1c27fdd04a85" /><Relationship Type="http://schemas.openxmlformats.org/officeDocument/2006/relationships/slide" Target="/ppt/slides/slide1.xml" Id="Rdafcaed8643c4791" /><Relationship Type="http://schemas.openxmlformats.org/officeDocument/2006/relationships/slide" Target="/ppt/slides/slide2.xml" Id="Rbebdc1d9dbdf4587" /><Relationship Type="http://schemas.openxmlformats.org/officeDocument/2006/relationships/slide" Target="/ppt/slides/slide3.xml" Id="Rb77653f791784966" /><Relationship Type="http://schemas.openxmlformats.org/officeDocument/2006/relationships/slide" Target="/ppt/slides/slide4.xml" Id="Re4cd5ddc5dcc4758" /><Relationship Type="http://schemas.openxmlformats.org/officeDocument/2006/relationships/slide" Target="/ppt/slides/slide5.xml" Id="Rd09a41405e124caa" /><Relationship Type="http://schemas.openxmlformats.org/officeDocument/2006/relationships/slide" Target="/ppt/slides/slide6.xml" Id="R8b21135e0f7e4ead" /><Relationship Type="http://schemas.openxmlformats.org/officeDocument/2006/relationships/slide" Target="/ppt/slides/slide7.xml" Id="Rb89b3c9707144cb6" /><Relationship Type="http://schemas.openxmlformats.org/officeDocument/2006/relationships/slide" Target="/ppt/slides/slide8.xml" Id="Rc20b48b6efdc4265" /><Relationship Type="http://schemas.openxmlformats.org/officeDocument/2006/relationships/slide" Target="/ppt/slides/slide9.xml" Id="R239985c5590545ff" /><Relationship Type="http://schemas.openxmlformats.org/officeDocument/2006/relationships/slide" Target="/ppt/slides/slide10.xml" Id="Rc244a45d31fb45f4" /><Relationship Type="http://schemas.openxmlformats.org/officeDocument/2006/relationships/slide" Target="/ppt/slides/slide11.xml" Id="Rd71961683c4d4ba1" /><Relationship Type="http://schemas.openxmlformats.org/officeDocument/2006/relationships/slide" Target="/ppt/slides/slide12.xml" Id="R85285deb68b04f6f" /><Relationship Type="http://schemas.openxmlformats.org/officeDocument/2006/relationships/slide" Target="/ppt/slides/slide13.xml" Id="Rb0ec26ef4a47490d" /><Relationship Type="http://schemas.openxmlformats.org/officeDocument/2006/relationships/slide" Target="/ppt/slides/slide14.xml" Id="Recfaaf1345c048e2" /><Relationship Type="http://schemas.openxmlformats.org/officeDocument/2006/relationships/slide" Target="/ppt/slides/slide15.xml" Id="R0cddd67093b04933" /><Relationship Type="http://schemas.openxmlformats.org/officeDocument/2006/relationships/slide" Target="/ppt/slides/slide16.xml" Id="R2b24a766d90049ad" /><Relationship Type="http://schemas.openxmlformats.org/officeDocument/2006/relationships/slide" Target="/ppt/slides/slide17.xml" Id="R9543a747c71a4c3d" /><Relationship Type="http://schemas.openxmlformats.org/officeDocument/2006/relationships/slide" Target="/ppt/slides/slide18.xml" Id="R6dfe3e5870da4f41" /><Relationship Type="http://schemas.openxmlformats.org/officeDocument/2006/relationships/slide" Target="/ppt/slides/slide19.xml" Id="R5bf27fbe1039458e" /><Relationship Type="http://schemas.openxmlformats.org/officeDocument/2006/relationships/slide" Target="/ppt/slides/slide20.xml" Id="R528422b6d0cf4c69" /><Relationship Type="http://schemas.openxmlformats.org/officeDocument/2006/relationships/slide" Target="/ppt/slides/slide21.xml" Id="R3583bce40b184ca9" /><Relationship Type="http://schemas.openxmlformats.org/officeDocument/2006/relationships/slide" Target="/ppt/slides/slide22.xml" Id="R08004528e0e44804" /><Relationship Type="http://schemas.openxmlformats.org/officeDocument/2006/relationships/slide" Target="/ppt/slides/slide23.xml" Id="Rf03aa78b9a00448e" /><Relationship Type="http://schemas.openxmlformats.org/officeDocument/2006/relationships/slide" Target="/ppt/slides/slide24.xml" Id="R0e642e9deebd4f24" /><Relationship Type="http://schemas.openxmlformats.org/officeDocument/2006/relationships/slide" Target="/ppt/slides/slide25.xml" Id="R07f70276adc548b1" /><Relationship Type="http://schemas.openxmlformats.org/officeDocument/2006/relationships/slide" Target="/ppt/slides/slide26.xml" Id="R3b575efd020b4d8d" /><Relationship Type="http://schemas.openxmlformats.org/officeDocument/2006/relationships/slide" Target="/ppt/slides/slide27.xml" Id="R6dc7b823ed444e4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7a2d8a533374bf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191044148d04520" /><Relationship Type="http://schemas.openxmlformats.org/officeDocument/2006/relationships/notesMaster" Target="/ppt/notesMasters/notesMaster1.xml" Id="R53e0f3729af34ac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996b6321e61427f" /><Relationship Type="http://schemas.openxmlformats.org/officeDocument/2006/relationships/notesMaster" Target="/ppt/notesMasters/notesMaster1.xml" Id="R0ec65c921029481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2918f144b60466a" /><Relationship Type="http://schemas.openxmlformats.org/officeDocument/2006/relationships/notesMaster" Target="/ppt/notesMasters/notesMaster1.xml" Id="R718a187f0dc2404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f92fe1a5a18449f" /><Relationship Type="http://schemas.openxmlformats.org/officeDocument/2006/relationships/notesMaster" Target="/ppt/notesMasters/notesMaster1.xml" Id="Rdfdf56a43426487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4fa0236f1f44b05" /><Relationship Type="http://schemas.openxmlformats.org/officeDocument/2006/relationships/notesMaster" Target="/ppt/notesMasters/notesMaster1.xml" Id="R64edfd88871e4e6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5804251a3254ed6" /><Relationship Type="http://schemas.openxmlformats.org/officeDocument/2006/relationships/notesMaster" Target="/ppt/notesMasters/notesMaster1.xml" Id="Re286ab195b314ab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09767e73f614fe7" /><Relationship Type="http://schemas.openxmlformats.org/officeDocument/2006/relationships/notesMaster" Target="/ppt/notesMasters/notesMaster1.xml" Id="R3983644ae3bf4c1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c558a1754044c94" /><Relationship Type="http://schemas.openxmlformats.org/officeDocument/2006/relationships/notesMaster" Target="/ppt/notesMasters/notesMaster1.xml" Id="R5f662fd9be56424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fe7aba8044c4d75" /><Relationship Type="http://schemas.openxmlformats.org/officeDocument/2006/relationships/notesMaster" Target="/ppt/notesMasters/notesMaster1.xml" Id="Rfad92603fb7e488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133137675164dc3" /><Relationship Type="http://schemas.openxmlformats.org/officeDocument/2006/relationships/notesMaster" Target="/ppt/notesMasters/notesMaster1.xml" Id="R169b1196ed2f487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38281f99c2645f9" /><Relationship Type="http://schemas.openxmlformats.org/officeDocument/2006/relationships/notesMaster" Target="/ppt/notesMasters/notesMaster1.xml" Id="R1152e9f25f3e427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76808e0a1cc414c" /><Relationship Type="http://schemas.openxmlformats.org/officeDocument/2006/relationships/notesMaster" Target="/ppt/notesMasters/notesMaster1.xml" Id="R28dab331958e4c7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aed5eefd6fa4c1e" /><Relationship Type="http://schemas.openxmlformats.org/officeDocument/2006/relationships/notesMaster" Target="/ppt/notesMasters/notesMaster1.xml" Id="Re80d46ec2d924e4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2a7fe20d741458d" /><Relationship Type="http://schemas.openxmlformats.org/officeDocument/2006/relationships/notesMaster" Target="/ppt/notesMasters/notesMaster1.xml" Id="R18ee8a0604dc42c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6dbd34c9b7b4d29" /><Relationship Type="http://schemas.openxmlformats.org/officeDocument/2006/relationships/notesMaster" Target="/ppt/notesMasters/notesMaster1.xml" Id="R3de1b2b9f1c949e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191a99ab83c4be2" /><Relationship Type="http://schemas.openxmlformats.org/officeDocument/2006/relationships/notesMaster" Target="/ppt/notesMasters/notesMaster1.xml" Id="Rcd8337b08eb54a3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58a0ef77d0b4b73" /><Relationship Type="http://schemas.openxmlformats.org/officeDocument/2006/relationships/notesMaster" Target="/ppt/notesMasters/notesMaster1.xml" Id="R72aca84663e2439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f21231c90f24846" /><Relationship Type="http://schemas.openxmlformats.org/officeDocument/2006/relationships/notesMaster" Target="/ppt/notesMasters/notesMaster1.xml" Id="R787458d734b44e0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b3015699eb54e67" /><Relationship Type="http://schemas.openxmlformats.org/officeDocument/2006/relationships/notesMaster" Target="/ppt/notesMasters/notesMaster1.xml" Id="Rad2728e11a4e4e2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7eca912ae69421b" /><Relationship Type="http://schemas.openxmlformats.org/officeDocument/2006/relationships/notesMaster" Target="/ppt/notesMasters/notesMaster1.xml" Id="Rd63f9fba9f9b480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4c431acb2494592" /><Relationship Type="http://schemas.openxmlformats.org/officeDocument/2006/relationships/notesMaster" Target="/ppt/notesMasters/notesMaster1.xml" Id="R49834e548707403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46a99ebd4eb482d" /><Relationship Type="http://schemas.openxmlformats.org/officeDocument/2006/relationships/notesMaster" Target="/ppt/notesMasters/notesMaster1.xml" Id="Rca7b40b722c04ba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3e5b2facbaa4607" /><Relationship Type="http://schemas.openxmlformats.org/officeDocument/2006/relationships/notesMaster" Target="/ppt/notesMasters/notesMaster1.xml" Id="R015097ac06b148e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02b764ddea24fed" /><Relationship Type="http://schemas.openxmlformats.org/officeDocument/2006/relationships/notesMaster" Target="/ppt/notesMasters/notesMaster1.xml" Id="Re43f40f1ff4e412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88dccc940364668" /><Relationship Type="http://schemas.openxmlformats.org/officeDocument/2006/relationships/notesMaster" Target="/ppt/notesMasters/notesMaster1.xml" Id="R9aeabea00a6d449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76aaedebf704fac" /><Relationship Type="http://schemas.openxmlformats.org/officeDocument/2006/relationships/notesMaster" Target="/ppt/notesMasters/notesMaster1.xml" Id="Rd12b59e8e3be400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e86af9faa264dcc" /><Relationship Type="http://schemas.openxmlformats.org/officeDocument/2006/relationships/notesMaster" Target="/ppt/notesMasters/notesMaster1.xml" Id="Rf711e2d93c394b6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서버 운영자는 2~11쪽을 먼저 확인하고, 학생에게는 12~19쪽의 제출 절차를 안내합니다. 이어 올리기 예시는 원본 파일을 그대로 유지한 상태입니다.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실행</a:t>
            </a:r>
          </a:p>
          <a:p xmlns:a="http://schemas.openxmlformats.org/drawingml/2006/main">
            <a:r>
              <a:t>서버 PC에서 start.bat를 두 번 클릭합니다. 처음에는 Python 3.12와 인터넷 연결이 필요합니다.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과정 추가</a:t>
            </a:r>
          </a:p>
          <a:p xmlns:a="http://schemas.openxmlformats.org/drawingml/2006/main">
            <a:r>
              <a:t>‘새 과정 만들기’를 누릅니다. 다음 실행부터는 저장한 과정이 목록에 나타납니다.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설치 오류는 setup.bat의 메시지를 확인하세요. 학생 PC에는 설치하지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기본 정보</a:t>
            </a:r>
          </a:p>
          <a:p xmlns:a="http://schemas.openxmlformats.org/drawingml/2006/main">
            <a:r>
              <a:t>과정마다 이름, ID, 포트와 저장 폴더를 정합니다. 상단의 연보라색 탭이 현재 선택한 화면입니다.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관리자 계정</a:t>
            </a:r>
          </a:p>
          <a:p xmlns:a="http://schemas.openxmlformats.org/drawingml/2006/main">
            <a:r>
              <a:t>관리자 ID와 12~128자의 비밀번호를 입력하고 확인란에도 같은 값을 입력합니다.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캡처의 127.0.0.1은 서버 PC 자체 접속용입니다. 교실에서는 학생에게 안내할 서버 IP를 입력하세요.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초기 설정</a:t>
            </a:r>
          </a:p>
          <a:p xmlns:a="http://schemas.openxmlformats.org/drawingml/2006/main">
            <a:r>
              <a:t>‘용량·전송 설정’ 탭을 선택합니다. 기본값은 파일당 2 GiB, 학생별 누적 10 GiB, 최소 여유 5 GiB입니다.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수업에 맞게 조정</a:t>
            </a:r>
          </a:p>
          <a:p xmlns:a="http://schemas.openxmlformats.org/drawingml/2006/main">
            <a:r>
              <a:t>묶음당 파일 수와 미완료 작업 보관 시간을 확인하고 ‘과정 만들기’를 누릅니다.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이전 완료 버전도 학생의 누적 사용량에 포함됩니다. 설정 변경은 서버 중지 후 가능합니다.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서버 시작</a:t>
            </a:r>
          </a:p>
          <a:p xmlns:a="http://schemas.openxmlformats.org/drawingml/2006/main">
            <a:r>
              <a:t>목록에서 과정을 선택하고 ‘서버 시작’을 누릅니다. 실행 중 상태가 될 때까지 기다립니다.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접속 주소</a:t>
            </a:r>
          </a:p>
          <a:p xmlns:a="http://schemas.openxmlformats.org/drawingml/2006/main">
            <a:r>
              <a:t>‘주소 복사’로 주소를 복사합니다. ‘관리자 화면 열기’로 관리자 화면에 접속합니다.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실제 교실에서는 학생 PC에서 복사한 주소가 열리는지 먼저 확인하세요. 화면의 임의 포트는 예시입니다.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진단 실행</a:t>
            </a:r>
          </a:p>
          <a:p xmlns:a="http://schemas.openxmlformats.org/drawingml/2006/main">
            <a:r>
              <a:t>서버 관리창에서 ‘접속·오류 점검’을 누릅니다. 저장 폴더와 서버 응답 결과를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다른 PC에서 확인</a:t>
            </a:r>
          </a:p>
          <a:p xmlns:a="http://schemas.openxmlformats.org/drawingml/2006/main">
            <a:r>
              <a:t>서버 IP와 해당 과정의 TCP 포트, 교육장 방화벽 설정을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127.0.0.1은 다른 PC에 안내할 주소로 사용할 수 없습니다. 이 진단만으로 교실 네트워크 연결을 보장하지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계정 입력</a:t>
            </a:r>
          </a:p>
          <a:p xmlns:a="http://schemas.openxmlformats.org/drawingml/2006/main">
            <a:r>
              <a:t>과정 생성 시 정한 관리자 ID와 비밀번호를 입력합니다.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접속 확인</a:t>
            </a:r>
          </a:p>
          <a:p xmlns:a="http://schemas.openxmlformats.org/drawingml/2006/main">
            <a:r>
              <a:t>로그인 후 왼쪽에 관리자 메뉴가 보이는지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공통 기본 비밀번호는 없습니다. 과정을 만들 때 입력한 관리자 계정을 사용합니다.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명단 등록</a:t>
            </a:r>
          </a:p>
          <a:p xmlns:a="http://schemas.openxmlformats.org/drawingml/2006/main">
            <a:r>
              <a:t>운영 안내에서 ‘명단 등록·사용자 관리로 이동’을 누릅니다.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과제 확인</a:t>
            </a:r>
          </a:p>
          <a:p xmlns:a="http://schemas.openxmlformats.org/drawingml/2006/main">
            <a:r>
              <a:t>명단 등록 후 ‘과제 관리’에서 수업에 사용할 과제와 접수 상태를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예시 수업은 ‘파이썬 기초 실습’, 학생은 템플릿의 001과 002를 사용합니다.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템플릿 작성</a:t>
            </a:r>
          </a:p>
          <a:p xmlns:a="http://schemas.openxmlformats.org/drawingml/2006/main">
            <a:r>
              <a:t>users 시트의 user_id와 name을 입력합니다. group은 선택이며 001 같은 ID는 텍스트로 유지합니다.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등록 전 확인</a:t>
            </a:r>
          </a:p>
          <a:p xmlns:a="http://schemas.openxmlformats.org/drawingml/2006/main">
            <a:r>
              <a:t>파일을 올리고 ‘명단 검증 및 미리보기’를 누릅니다. 오류가 없으면 ‘검증된 명단 반영’을 누릅니다.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배포 템플릿의 001, 002는 예시입니다. 실제 사용 시 예시 행을 실제 명단으로 교체하세요.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임시비밀번호 보관</a:t>
            </a:r>
          </a:p>
          <a:p xmlns:a="http://schemas.openxmlformats.org/drawingml/2006/main">
            <a:r>
              <a:t>등록 직후 임시비밀번호 결과 CSV를 내려받고 학생별로 안전하게 전달합니다. 결과를 닫으면 다시 조회할 수 없습니다.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등록 결과 확인</a:t>
            </a:r>
          </a:p>
          <a:p xmlns:a="http://schemas.openxmlformats.org/drawingml/2006/main">
            <a:r>
              <a:t>사용자 목록에서 ID, 이름, 활성 상태를 확인합니다. 잊은 비밀번호는 관리자가 초기화합니다.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캡처는 비밀번호 결과를 닫은 뒤의 화면입니다. 재등록만으로 기존 비밀번호와 제출 기록이 바뀌지는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과제 입력</a:t>
            </a:r>
          </a:p>
          <a:p xmlns:a="http://schemas.openxmlformats.org/drawingml/2006/main">
            <a:r>
              <a:t>과제 관리에서 ‘새 과제 추가’를 펼칩니다. 예시는 ‘1주차 실습 과제’입니다.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접수 시작</a:t>
            </a:r>
          </a:p>
          <a:p xmlns:a="http://schemas.openxmlformats.org/drawingml/2006/main">
            <a:r>
              <a:t>설명을 입력하고 ‘즉시 접수 시작’을 확인한 뒤 ‘과제 추가’를 누릅니다.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기본 과제를 수정해서 사용해도 됩니다. 여러 과제를 운영할 때는 학생에게 정확한 과제명을 안내하세요.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임시비밀번호 사용</a:t>
            </a:r>
          </a:p>
          <a:p xmlns:a="http://schemas.openxmlformats.org/drawingml/2006/main">
            <a:r>
              <a:t>학생은 전달받은 ID와 임시비밀번호로 로그인합니다. 예시 ID는 001입니다.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새 비밀번호 설정</a:t>
            </a:r>
          </a:p>
          <a:p xmlns:a="http://schemas.openxmlformats.org/drawingml/2006/main">
            <a:r>
              <a:t>현재 임시비밀번호와 새 비밀번호를 입력합니다. 변경 후 새 비밀번호로 다시 로그인합니다.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비밀번호는 12~128자이며 현재 값과 달라야 합니다. 변경을 마쳐야 과제를 제출할 수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연결 코드 발급</a:t>
            </a:r>
          </a:p>
          <a:p xmlns:a="http://schemas.openxmlformats.org/drawingml/2006/main">
            <a:r>
              <a:t>‘일회용 연결 코드 발급’을 누르고 코드를 복사합니다.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제출 창 열기</a:t>
            </a:r>
          </a:p>
          <a:p xmlns:a="http://schemas.openxmlformats.org/drawingml/2006/main">
            <a:r>
              <a:t>‘파일 제출·이어 올리기 화면 열기’를 누릅니다. 다음 화면에서 코드를 입력합니다.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코드는 120초 동안 한 번만 사용할 수 있습니다. 캡처에서는 코드 영역을 가렸습니다.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코드로 연결</a:t>
            </a:r>
          </a:p>
          <a:p xmlns:a="http://schemas.openxmlformats.org/drawingml/2006/main">
            <a:r>
              <a:t>복사한 코드를 입력하고 ‘코드로 연결’을 누릅니다.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계정으로 연결</a:t>
            </a:r>
          </a:p>
          <a:p xmlns:a="http://schemas.openxmlformats.org/drawingml/2006/main">
            <a:r>
              <a:t>코드가 만료되었거나 창을 다시 열었다면 같은 학생 ID와 새 비밀번호로 로그인해도 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다른 사람의 계정이나 연결 코드를 사용하지 마세요. 로그인 후 이름과 ID를 확인합니다.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과제 확인</a:t>
            </a:r>
          </a:p>
          <a:p xmlns:a="http://schemas.openxmlformats.org/drawingml/2006/main">
            <a:r>
              <a:t>제출할 과제를 ‘1주차 실습 과제’로 선택합니다.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파일 확인</a:t>
            </a:r>
          </a:p>
          <a:p xmlns:a="http://schemas.openxmlformats.org/drawingml/2006/main">
            <a:r>
              <a:t>제출할 파일을 선택하고 이름, 개수, 총용량을 확인한 뒤 ‘제출 시작’을 누릅니다.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선택한 파일 전체가 하나의 제출 묶음입니다. 오른쪽에서 나의 사용량과 파일당 한도를 확인할 수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전송 상태 확인</a:t>
            </a:r>
          </a:p>
          <a:p xmlns:a="http://schemas.openxmlformats.org/drawingml/2006/main">
            <a:r>
              <a:t>예시에서는 전송 도중 연결을 끊고 일시 중지했습니다. 서버가 확정한 수신량을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창을 유지한 경우</a:t>
            </a:r>
          </a:p>
          <a:p xmlns:a="http://schemas.openxmlformats.org/drawingml/2006/main">
            <a:r>
              <a:t>네트워크를 복구한 뒤 ‘다시 시도’를 누릅니다. 완료 전까지 원본 파일을 보관합니다.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전송 중이거나 일시 중지된 작업은 제출 완료로 집계하지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기존 작업 선택</a:t>
            </a:r>
          </a:p>
          <a:p xmlns:a="http://schemas.openxmlformats.org/drawingml/2006/main">
            <a:r>
              <a:t>다시 로그인하고 ‘이어 올리기’ 영역에서 ‘이 작업 이어 올리기’를 누릅니다. 좁은 화면에서는 아래로 스크롤합니다.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다시 선택</a:t>
            </a:r>
          </a:p>
          <a:p xmlns:a="http://schemas.openxmlformats.org/drawingml/2006/main">
            <a:r>
              <a:t>처음 선택한 파일을 모두 다시 선택하고 ‘확인 후 이어 올리기’를 누릅니다.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파일 이름만 같아서는 안 됩니다. 내용이 바뀌었다면 새 제출로 시작해야 합니다. 기본 보관 시간은 24시간입니다.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완료 안내</a:t>
            </a:r>
          </a:p>
          <a:p xmlns:a="http://schemas.openxmlformats.org/drawingml/2006/main">
            <a:r>
              <a:t>‘제출이 완료되었습니다.’ 안내와 제출번호가 나타날 때까지 기다립니다.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제출 정보 기록</a:t>
            </a:r>
          </a:p>
          <a:p xmlns:a="http://schemas.openxmlformats.org/drawingml/2006/main">
            <a:r>
              <a:t>과제명, 파일명, 완료 시각을 확인합니다. 문의할 때 제출번호를 함께 전달합니다.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전송량이 100%여도 검증과 저장이 남아 있을 수 있습니다. 제출번호가 나온 묶음을 완료로 확인합니다.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이력 확인</a:t>
            </a:r>
          </a:p>
          <a:p xmlns:a="http://schemas.openxmlformats.org/drawingml/2006/main">
            <a:r>
              <a:t>‘완료된 제출 이력’에서 과제명과 제출번호, 버전을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파일 확인</a:t>
            </a:r>
          </a:p>
          <a:p xmlns:a="http://schemas.openxmlformats.org/drawingml/2006/main">
            <a:r>
              <a:t>파일 옆 ‘다운로드’를 눌러 저장된 파일을 내려받습니다. 다시 제출한 파일은 새 버전으로 남습니다.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 예시에서는 실제 파일을 내려받아 원본과 내용이 같은지 확인했습니다.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과제 선택</a:t>
            </a:r>
          </a:p>
          <a:p xmlns:a="http://schemas.openxmlformats.org/drawingml/2006/main">
            <a:r>
              <a:t>‘제출 현황’에서 ‘1주차 실습 과제’를 선택합니다. 예시는 대상 2명 중 1명이 제출한 상태입니다.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후속 확인</a:t>
            </a:r>
          </a:p>
          <a:p xmlns:a="http://schemas.openxmlformats.org/drawingml/2006/main">
            <a:r>
              <a:t>미제출자 필터로 안내 대상을 찾습니다. 아래 완료 제출물을 펼쳐 파일과 보존 버전을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한 학생이 여러 번 제출해도 제출자는 1명으로 셉니다. CSV 준비 버튼으로 현황을 내려받을 수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사용량 확인</a:t>
            </a:r>
          </a:p>
          <a:p xmlns:a="http://schemas.openxmlformats.org/drawingml/2006/main">
            <a:r>
              <a:t>‘저장 공간·기록’에서 완료 사용량과 진행 중 예약 용량, 디스크 여유 공간을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공간 부족 대응</a:t>
            </a:r>
          </a:p>
          <a:p xmlns:a="http://schemas.openxmlformats.org/drawingml/2006/main">
            <a:r>
              <a:t>미완료 작업 상태를 확인하고 필요하면 학생이 해당 업로드를 취소합니다. 한도 변경은 서버 중지 후 진행합니다.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완료된 제출물은 자동 삭제하지 않습니다. 저장 폴더의 파일을 임의로 옮기거나 삭제하지 마세요.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작업 마무리</a:t>
            </a:r>
          </a:p>
          <a:p xmlns:a="http://schemas.openxmlformats.org/drawingml/2006/main">
            <a:r>
              <a:t>학생에게 전송 종료를 안내하고 제출 현황을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서버 중지</a:t>
            </a:r>
          </a:p>
          <a:p xmlns:a="http://schemas.openxmlformats.org/drawingml/2006/main">
            <a:r>
              <a:t>서버 관리창에서 해당 과정을 선택한 뒤 ‘서버 중지’를 누릅니다. 중지 상태를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관리창의 닫기 버튼만 누르면 서버는 계속 실행됩니다. 다음 수업은 관리창을 다시 열고 서버를 시작하세요.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1. 중지 확인</a:t>
            </a:r>
          </a:p>
          <a:p xmlns:a="http://schemas.openxmlformats.org/drawingml/2006/main">
            <a:r>
              <a:t>서버 관리창에서 해당 과정이 중지 상태인지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함께 복사할 항목</a:t>
            </a:r>
          </a:p>
          <a:p xmlns:a="http://schemas.openxmlformats.org/drawingml/2006/main">
            <a:r>
              <a:t>instances의 과정 설정 JSON과 해당 과정의 저장 폴더 전체를 함께 복사합니다. 저장 폴더에는 DB, 인증 정보와 제출물이 들어 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별도 위치에 보관</a:t>
            </a:r>
          </a:p>
          <a:p xmlns:a="http://schemas.openxmlformats.org/drawingml/2006/main">
            <a:r>
              <a:t>날짜별 백업 폴더를 사용하고 접근 권한을 제한합니다. 완료 제출물만 골라 복사하면 계정과 제출 이력을 함께 복구할 수 없습니다.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4. 복원 시 확인</a:t>
            </a:r>
          </a:p>
          <a:p xmlns:a="http://schemas.openxmlformats.org/drawingml/2006/main">
            <a:r>
              <a:t>운영 문서의 복원 절차를 따릅니다. 기존 서버와 복원 서버가 같은 저장 폴더를 동시에 사용하지 않도록 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실제 명단, 비밀번호 CSV, 데이터 폴더와 백업 파일은 GitHub에 올리지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로그인이 안 될 때</a:t>
            </a:r>
          </a:p>
          <a:p xmlns:a="http://schemas.openxmlformats.org/drawingml/2006/main">
            <a:r>
              <a:t>과정 주소와 ID를 확인합니다. 비밀번호를 잊었다면 관리자에게 초기화를 요청합니다.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다른 PC에서 접속이 안 될 때</a:t>
            </a:r>
          </a:p>
          <a:p xmlns:a="http://schemas.openxmlformats.org/drawingml/2006/main">
            <a:r>
              <a:t>서버 IP와 포트를 확인하고 서버 관리창의 접속 점검을 실행합니다. 127.0.0.1은 서버 자체 접속용입니다.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업로드를 이어 갈 수 없을 때</a:t>
            </a:r>
          </a:p>
          <a:p xmlns:a="http://schemas.openxmlformats.org/drawingml/2006/main">
            <a:r>
              <a:t>같은 계정과 원본 파일을 사용했는지 확인합니다. 취소하거나 보관 기간이 지난 작업은 새로 제출합니다.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화면과 상세 안내</a:t>
            </a:r>
          </a:p>
          <a:p xmlns:a="http://schemas.openxmlformats.org/drawingml/2006/main">
            <a:r>
              <a:t>README.md에서 설치 방법을, docs/admin-guide.md와 docs/user-guide.md에서 세부 운영 절차를 확인할 수 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교실의 다른 PC 접속과 TLS 인증서 운영은 환경에 맞게 별도로 확인해야 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창 크기 조절</a:t>
            </a:r>
          </a:p>
          <a:p xmlns:a="http://schemas.openxmlformats.org/drawingml/2006/main">
            <a:r>
              <a:t>관리창을 좁히면 실행 버튼이 두 줄로 배치됩니다. 주소는 입력 영역에서 선택하거나 주소 복사로 가져옵니다.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아래 영역 확인</a:t>
            </a:r>
          </a:p>
          <a:p xmlns:a="http://schemas.openxmlformats.org/drawingml/2006/main">
            <a:r>
              <a:t>높이가 부족하면 오른쪽 스크롤바나 마우스 휠로 이동합니다. 서버 시작과 중지 버튼은 같은 순서를 유지합니다.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예시는 640 × 520 크기의 관리창입니다. 과정 설정 창에서도 스크롤과 Tab 키로 입력란을 이동할 수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파일 선택</a:t>
            </a:r>
          </a:p>
          <a:p xmlns:a="http://schemas.openxmlformats.org/drawingml/2006/main">
            <a:r>
              <a:t>파일 선택 버튼으로 원본을 선택합니다. PC에서는 파일을 선택 영역으로 끌어 놓을 수도 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용량과 이어 올리기</a:t>
            </a:r>
          </a:p>
          <a:p xmlns:a="http://schemas.openxmlformats.org/drawingml/2006/main">
            <a:r>
              <a:t>화면이 좁으면 저장 용량과 이어 올리기가 선택 영역 아래에 나타납니다. 아래로 스크롤해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예시는 브라우저 폭 390px입니다. 파일을 선택한 뒤 제출 시작을 눌러야 전송합니다.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메뉴와 현황</a:t>
            </a:r>
          </a:p>
          <a:p xmlns:a="http://schemas.openxmlformats.org/drawingml/2006/main">
            <a:r>
              <a:t>작은 화면에서는 왼쪽 위의 메뉴 열기 버튼으로 관리자 메뉴를 펼칩니다. 수치와 입력란은 창 너비에 맞춰 재배치됩니다.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표의 나머지 열</a:t>
            </a:r>
          </a:p>
          <a:p xmlns:a="http://schemas.openxmlformats.org/drawingml/2006/main">
            <a:r>
              <a:t>표가 화면보다 넓으면 표 안에서 가로로 스크롤합니다. 상세 제출 이력은 아래쪽에서 펼쳐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예시는 브라우저 폭 768px입니다. 같은 메뉴와 기능을 창 크기에 맞춰 사용할 수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13406bcc514c1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20b783c8f1b4627" /><Relationship Type="http://schemas.openxmlformats.org/officeDocument/2006/relationships/slideLayout" Target="/ppt/slideLayouts/slideLayout1.xml" Id="R40e68676d378490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0e68676d378490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9d96d562ab4474" /><Relationship Type="http://schemas.openxmlformats.org/officeDocument/2006/relationships/notesSlide" Target="/ppt/notesSlides/notesSlide1.xml" Id="R572aa2761a9a4f4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15b51678ca4a28" /><Relationship Type="http://schemas.openxmlformats.org/officeDocument/2006/relationships/image" Target="/ppt/media/image.png" Id="Rd53a1f04f0ef448c" /><Relationship Type="http://schemas.openxmlformats.org/officeDocument/2006/relationships/notesSlide" Target="/ppt/notesSlides/notesSlide2.xml" Id="R10237e240a90499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54fbc9f32f47a4" /><Relationship Type="http://schemas.openxmlformats.org/officeDocument/2006/relationships/image" Target="/ppt/media/image2.png" Id="Rdc9652c8b29945d3" /><Relationship Type="http://schemas.openxmlformats.org/officeDocument/2006/relationships/notesSlide" Target="/ppt/notesSlides/notesSlide3.xml" Id="R807221770cbb497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f63787769d41ac" /><Relationship Type="http://schemas.openxmlformats.org/officeDocument/2006/relationships/image" Target="/ppt/media/image3.png" Id="Ra84b7ad2c40e4621" /><Relationship Type="http://schemas.openxmlformats.org/officeDocument/2006/relationships/notesSlide" Target="/ppt/notesSlides/notesSlide4.xml" Id="Reb6d845fdf334b6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65ae34550e4097" /><Relationship Type="http://schemas.openxmlformats.org/officeDocument/2006/relationships/image" Target="/ppt/media/image4.png" Id="R38ad5ff8fb7842f9" /><Relationship Type="http://schemas.openxmlformats.org/officeDocument/2006/relationships/notesSlide" Target="/ppt/notesSlides/notesSlide5.xml" Id="Rc5321829b813406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aa524d549947ca" /><Relationship Type="http://schemas.openxmlformats.org/officeDocument/2006/relationships/image" Target="/ppt/media/image5.png" Id="R1fb74f701abc4a13" /><Relationship Type="http://schemas.openxmlformats.org/officeDocument/2006/relationships/notesSlide" Target="/ppt/notesSlides/notesSlide6.xml" Id="R1a7b02354bf7472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311f9420f24122" /><Relationship Type="http://schemas.openxmlformats.org/officeDocument/2006/relationships/image" Target="/ppt/media/image6.png" Id="R106e2e4706994ced" /><Relationship Type="http://schemas.openxmlformats.org/officeDocument/2006/relationships/notesSlide" Target="/ppt/notesSlides/notesSlide7.xml" Id="R11465f858d62425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92eea5337e400a" /><Relationship Type="http://schemas.openxmlformats.org/officeDocument/2006/relationships/image" Target="/ppt/media/image7.png" Id="R58f8e163d68e46f3" /><Relationship Type="http://schemas.openxmlformats.org/officeDocument/2006/relationships/notesSlide" Target="/ppt/notesSlides/notesSlide8.xml" Id="R1fff95f71fc94e1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760e4cb52948bc" /><Relationship Type="http://schemas.openxmlformats.org/officeDocument/2006/relationships/image" Target="/ppt/media/image8.png" Id="R02fbfeabaab54726" /><Relationship Type="http://schemas.openxmlformats.org/officeDocument/2006/relationships/notesSlide" Target="/ppt/notesSlides/notesSlide9.xml" Id="Rabb50c746aee411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d6f03b15da45b6" /><Relationship Type="http://schemas.openxmlformats.org/officeDocument/2006/relationships/image" Target="/ppt/media/image9.png" Id="R92c322763575463f" /><Relationship Type="http://schemas.openxmlformats.org/officeDocument/2006/relationships/notesSlide" Target="/ppt/notesSlides/notesSlide10.xml" Id="Rc63bef98cf0245a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cf552e8928484d" /><Relationship Type="http://schemas.openxmlformats.org/officeDocument/2006/relationships/image" Target="/ppt/media/image10.png" Id="R4382b802c35c4b31" /><Relationship Type="http://schemas.openxmlformats.org/officeDocument/2006/relationships/notesSlide" Target="/ppt/notesSlides/notesSlide11.xml" Id="R6d1f8aa42a8d409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092bac2aae48a1" /><Relationship Type="http://schemas.openxmlformats.org/officeDocument/2006/relationships/image" Target="/ppt/media/image11.png" Id="R2a7a13ca37cf4ee9" /><Relationship Type="http://schemas.openxmlformats.org/officeDocument/2006/relationships/notesSlide" Target="/ppt/notesSlides/notesSlide12.xml" Id="R96982830e0b6485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3eb5cb8d2b4fb3" /><Relationship Type="http://schemas.openxmlformats.org/officeDocument/2006/relationships/image" Target="/ppt/media/image12.png" Id="R365e9e0d27f3421e" /><Relationship Type="http://schemas.openxmlformats.org/officeDocument/2006/relationships/notesSlide" Target="/ppt/notesSlides/notesSlide13.xml" Id="R326271893447454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fb4e06f3524478" /><Relationship Type="http://schemas.openxmlformats.org/officeDocument/2006/relationships/image" Target="/ppt/media/image13.png" Id="Re581ebff8cbd479a" /><Relationship Type="http://schemas.openxmlformats.org/officeDocument/2006/relationships/notesSlide" Target="/ppt/notesSlides/notesSlide14.xml" Id="R31777bddd009480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2e37e5c3b248f4" /><Relationship Type="http://schemas.openxmlformats.org/officeDocument/2006/relationships/image" Target="/ppt/media/image14.png" Id="R8df6900fd27c45f7" /><Relationship Type="http://schemas.openxmlformats.org/officeDocument/2006/relationships/notesSlide" Target="/ppt/notesSlides/notesSlide15.xml" Id="R11f2cd852a5d431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ab4e4923ca4406" /><Relationship Type="http://schemas.openxmlformats.org/officeDocument/2006/relationships/image" Target="/ppt/media/image15.png" Id="R76af84791d5f4af1" /><Relationship Type="http://schemas.openxmlformats.org/officeDocument/2006/relationships/notesSlide" Target="/ppt/notesSlides/notesSlide16.xml" Id="R4c101ba31c834cc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d76c27e0d94a8d" /><Relationship Type="http://schemas.openxmlformats.org/officeDocument/2006/relationships/image" Target="/ppt/media/image16.png" Id="Rb2428260d95f43f8" /><Relationship Type="http://schemas.openxmlformats.org/officeDocument/2006/relationships/notesSlide" Target="/ppt/notesSlides/notesSlide17.xml" Id="Rb231885bfb1d4ee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dff15468a04540" /><Relationship Type="http://schemas.openxmlformats.org/officeDocument/2006/relationships/image" Target="/ppt/media/image17.png" Id="R3a3aeafb47d44a3e" /><Relationship Type="http://schemas.openxmlformats.org/officeDocument/2006/relationships/notesSlide" Target="/ppt/notesSlides/notesSlide18.xml" Id="Rf57822a8673542c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1e963dc321455f" /><Relationship Type="http://schemas.openxmlformats.org/officeDocument/2006/relationships/image" Target="/ppt/media/image18.png" Id="R051df38a9e424cbe" /><Relationship Type="http://schemas.openxmlformats.org/officeDocument/2006/relationships/notesSlide" Target="/ppt/notesSlides/notesSlide19.xml" Id="R7b969a9fe32b405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7da4271be84642" /><Relationship Type="http://schemas.openxmlformats.org/officeDocument/2006/relationships/image" Target="/ppt/media/image19.png" Id="R262de6c4280f4965" /><Relationship Type="http://schemas.openxmlformats.org/officeDocument/2006/relationships/notesSlide" Target="/ppt/notesSlides/notesSlide20.xml" Id="Ra73832a804444c6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858eae550f4a9e" /><Relationship Type="http://schemas.openxmlformats.org/officeDocument/2006/relationships/image" Target="/ppt/media/image20.png" Id="Rf23b3d1230694c0e" /><Relationship Type="http://schemas.openxmlformats.org/officeDocument/2006/relationships/notesSlide" Target="/ppt/notesSlides/notesSlide21.xml" Id="R26ad98986f704c8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8159a245e8424b" /><Relationship Type="http://schemas.openxmlformats.org/officeDocument/2006/relationships/image" Target="/ppt/media/image21.png" Id="R81d3563418624d5b" /><Relationship Type="http://schemas.openxmlformats.org/officeDocument/2006/relationships/notesSlide" Target="/ppt/notesSlides/notesSlide22.xml" Id="R197dec8dc98a40b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9f9659aef84063" /><Relationship Type="http://schemas.openxmlformats.org/officeDocument/2006/relationships/notesSlide" Target="/ppt/notesSlides/notesSlide23.xml" Id="R9bebc712e7da4e1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ae84b17da94a0c" /><Relationship Type="http://schemas.openxmlformats.org/officeDocument/2006/relationships/notesSlide" Target="/ppt/notesSlides/notesSlide24.xml" Id="R5dcfb767837c47b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f104be215948dc" /><Relationship Type="http://schemas.openxmlformats.org/officeDocument/2006/relationships/image" Target="/ppt/media/image22.png" Id="R5b03d231678040c3" /><Relationship Type="http://schemas.openxmlformats.org/officeDocument/2006/relationships/notesSlide" Target="/ppt/notesSlides/notesSlide25.xml" Id="Reea3c0ccb1184d8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d9b988f6c04161" /><Relationship Type="http://schemas.openxmlformats.org/officeDocument/2006/relationships/image" Target="/ppt/media/image23.png" Id="R1b79aafad6c440c1" /><Relationship Type="http://schemas.openxmlformats.org/officeDocument/2006/relationships/notesSlide" Target="/ppt/notesSlides/notesSlide26.xml" Id="R88058e08c7e1475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f3cacaa5b9413f" /><Relationship Type="http://schemas.openxmlformats.org/officeDocument/2006/relationships/image" Target="/ppt/media/image24.png" Id="R4b7fe543d6fa4758" /><Relationship Type="http://schemas.openxmlformats.org/officeDocument/2006/relationships/notesSlide" Target="/ppt/notesSlides/notesSlide27.xml" Id="R1e30c0217b6d45b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0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1EBFBF-8671-4C77-A9B3-63866EE74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81200"/>
            <a:ext cx="1323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05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705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AssignmentHub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A4B0E5-475E-48D7-8CBF-9869DACDF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67075"/>
            <a:ext cx="13049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5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사용자 매뉴얼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E09921-F178-4DF6-96A4-1F279D3BE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76750"/>
            <a:ext cx="1285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0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서버 운영과 학생의 과제 제출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27606C-5758-43B6-9815-51A8596A5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572250"/>
            <a:ext cx="1143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파이썬 기초 실습 예시</a:t>
            </a:r>
          </a:p>
          <a:p xmlns:a="http://schemas.openxmlformats.org/drawingml/2006/main">
            <a:pPr>
              <a:defRPr sz="20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2026년 9월</a:t>
            </a:r>
          </a:p>
        </p:txBody>
      </p:sp>
    </p:spTree>
    <p:extLst>
      <p:ext uri="{BB962C8B-B14F-4D97-AF65-F5344CB8AC3E}">
        <p14:creationId xmlns:p14="http://schemas.microsoft.com/office/powerpoint/2010/main" val="127910211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01A98F-A5C6-4265-A9EA-2119F7AB8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서버 관리창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2E976D-B574-46B9-8755-C6FDC6A45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A17849-9CE4-4F3E-8435-B9AB69C3D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실행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A4109E-ECFA-4BF4-8225-05595E138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서버 PC에서 start.bat를 두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번 클릭합니다. 처음에는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Python 3.12와 인터넷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연결이 필요합니다.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5DD2C0-D5B4-40D0-B5CB-44292D3BC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과정 추가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8B54D3-AEA0-471E-9FF5-33A74E28D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‘새 과정 만들기’를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누릅니다. 다음 실행부터는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저장한 과정이 목록에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나타납니다.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3a1f04f0ef448c"/>
          <a:stretch xmlns:a="http://schemas.openxmlformats.org/drawingml/2006/main"/>
        </p:blipFill>
        <p:spPr>
          <a:xfrm xmlns:a="http://schemas.openxmlformats.org/drawingml/2006/main">
            <a:off x="5152900" y="1476375"/>
            <a:ext cx="9029951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753614-6812-4CAB-8078-638D0FDD0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설치 오류는 setup.bat의 메시지를 확인하세요. 학생 PC에는 설치하지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8455843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3A2C8F-A98B-4FF0-AAC1-9140CAE4E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새 과정의 접속 정보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EDA12D-DD98-4947-B6B9-5B0F1DD4E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A028B2-B367-4DC8-B4EE-9A411C3A9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기본 정보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0233F8-0B2D-48EC-B931-6CBB3252F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과정마다 이름, ID, 포트와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저장 폴더를 정합니다.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상단의 연보라색 탭이 현재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선택한 화면입니다.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272B65-9F6A-4CD4-ABD4-C2629D50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관리자 계정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DD56EE-018B-477A-B19B-D342D2C87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관리자 ID와 12~128자의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비밀번호를 입력하고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확인란에도 같은 값을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입력합니다.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9652c8b29945d3"/>
          <a:stretch xmlns:a="http://schemas.openxmlformats.org/drawingml/2006/main"/>
        </p:blipFill>
        <p:spPr>
          <a:xfrm xmlns:a="http://schemas.openxmlformats.org/drawingml/2006/main">
            <a:off x="6630528" y="1476375"/>
            <a:ext cx="6074694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A3E93F-88BE-48F4-A2F9-E950CD739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캡처의 127.0.0.1은 서버 PC 자체 접속용입니다. 교실에서는 학생에게 안내할 서버 IP를 입력하세요.</a:t>
            </a:r>
          </a:p>
        </p:txBody>
      </p:sp>
    </p:spTree>
    <p:extLst>
      <p:ext uri="{BB962C8B-B14F-4D97-AF65-F5344CB8AC3E}">
        <p14:creationId xmlns:p14="http://schemas.microsoft.com/office/powerpoint/2010/main" val="5293170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0F2042-D34E-4C37-A573-21B50FA20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용량과 전송 설정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F025BD-5ACE-4136-A653-F17AC3C2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D57384-C344-4141-8B62-F1BFBFECA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초기 설정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448A66-7BE7-4D30-B458-1621F2BF7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‘용량·전송 설정’ 탭을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선택합니다. 기본값은 파일당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2 GiB, 학생별 누적 10 GiB,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최소 여유 5 GiB입니다.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4E4F08-8329-4AE3-8C62-26FD7DAD2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수업에 맞게 조정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2C73D4-392F-4DB4-9078-8619A5258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묶음당 파일 수와 미완료 작업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보관 시간을 확인하고 ‘과정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만들기’를 누릅니다.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4b7ad2c40e4621"/>
          <a:stretch xmlns:a="http://schemas.openxmlformats.org/drawingml/2006/main"/>
        </p:blipFill>
        <p:spPr>
          <a:xfrm xmlns:a="http://schemas.openxmlformats.org/drawingml/2006/main">
            <a:off x="6630528" y="1476375"/>
            <a:ext cx="6074694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4CEF4C-0F16-43B2-A836-239395B41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이전 완료 버전도 학생의 누적 사용량에 포함됩니다. 설정 변경은 서버 중지 후 가능합니다.</a:t>
            </a:r>
          </a:p>
        </p:txBody>
      </p:sp>
    </p:spTree>
    <p:extLst>
      <p:ext uri="{BB962C8B-B14F-4D97-AF65-F5344CB8AC3E}">
        <p14:creationId xmlns:p14="http://schemas.microsoft.com/office/powerpoint/2010/main" val="48607190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2B0829-3C0C-4F00-8F0A-F7164BC3B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서버 시작과 주소 안내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C5A1AE-2CA7-4035-80AB-843FB6ECC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0F7CAF-B819-40D1-83E0-341E671AA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서버 시작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F656F7-2137-4732-85BC-3D6A92886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목록에서 과정을 선택하고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‘서버 시작’을 누릅니다.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실행 중 상태가 될 때까지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기다립니다.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7EBA39-A1D6-44E4-A8D9-92D7EEBAF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접속 주소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6FE5BE-9F12-435C-9DB9-BE4D84A15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‘주소 복사’로 주소를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복사합니다. ‘관리자 화면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열기’로 관리자 화면에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접속합니다.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ad5ff8fb7842f9"/>
          <a:stretch xmlns:a="http://schemas.openxmlformats.org/drawingml/2006/main"/>
        </p:blipFill>
        <p:spPr>
          <a:xfrm xmlns:a="http://schemas.openxmlformats.org/drawingml/2006/main">
            <a:off x="5152900" y="1476375"/>
            <a:ext cx="9029951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95A3C7-03C9-458C-BA76-6D59B9B85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실제 교실에서는 학생 PC에서 복사한 주소가 열리는지 먼저 확인하세요. 화면의 임의 포트는 예시입니다.</a:t>
            </a:r>
          </a:p>
        </p:txBody>
      </p:sp>
    </p:spTree>
    <p:extLst>
      <p:ext uri="{BB962C8B-B14F-4D97-AF65-F5344CB8AC3E}">
        <p14:creationId xmlns:p14="http://schemas.microsoft.com/office/powerpoint/2010/main" val="191335753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B81B9D-BC91-4A26-928C-3375EB99A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접속이 안 될 때의 점검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8AD4E6-812E-4BC3-B8BB-C91407579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981B94-FF67-4AE0-958F-7B8DCC832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진단 실행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52C7BE-12D4-4C52-BD5A-F729B4091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서버 관리창에서 ‘접속·오류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점검’을 누릅니다. 저장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폴더와 서버 응답 결과를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AC68E6-317D-4A9E-A74A-9863CDB78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다른 PC에서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637406-7852-4939-BEC3-4A917DA05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서버 IP와 해당 과정의 TCP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포트, 교육장 방화벽 설정을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b74f701abc4a13"/>
          <a:stretch xmlns:a="http://schemas.openxmlformats.org/drawingml/2006/main"/>
        </p:blipFill>
        <p:spPr>
          <a:xfrm xmlns:a="http://schemas.openxmlformats.org/drawingml/2006/main">
            <a:off x="5130511" y="1476375"/>
            <a:ext cx="907472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48AF5A-3E1F-417A-B2C1-833EA572A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127.0.0.1은 다른 PC에 안내할 주소로 사용할 수 없습니다. 이 진단만으로 교실 네트워크 연결을 보장하지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94178090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00BD7D-4765-4089-BABA-66464FF44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관리자 로그인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7AE89D-CCD6-4BCC-8174-ED259CEB5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6EA2E8-ACE2-47DB-866B-5C9786C1C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계정 입력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30771B-5748-4DED-80C6-C37979B3E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과정 생성 시 정한 관리자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ID와 비밀번호를 입력합니다.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5B354D-7F0B-48C5-885E-3ACD51078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접속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DEB018-F9CA-40D5-8A31-3B2458382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로그인 후 왼쪽에 관리자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메뉴가 보이는지 확인합니다.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6e2e4706994ced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6E99BB-DA09-45FC-A34A-A0501C8BD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공통 기본 비밀번호는 없습니다. 과정을 만들 때 입력한 관리자 계정을 사용합니다.</a:t>
            </a:r>
          </a:p>
        </p:txBody>
      </p:sp>
    </p:spTree>
    <p:extLst>
      <p:ext uri="{BB962C8B-B14F-4D97-AF65-F5344CB8AC3E}">
        <p14:creationId xmlns:p14="http://schemas.microsoft.com/office/powerpoint/2010/main" val="20048003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3D4AA8-47B6-45CD-BD3B-7F999987C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수업 준비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D70C70-DD78-49BA-91D2-DF550F845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0A368A-9DD5-4B3B-8469-FFB5B009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명단 등록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809D54-1D20-4D28-9ADD-348C41FA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운영 안내에서 ‘명단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등록·사용자 관리로 이동’을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누릅니다.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A5EDFD-1940-4BA5-8717-998EE930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과제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729B37-FB74-4F60-8033-A753400E1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명단 등록 후 ‘과제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관리’에서 수업에 사용할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과제와 접수 상태를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f8e163d68e46f3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2063A6-F651-40E9-AECC-8947DEBC1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예시 수업은 ‘파이썬 기초 실습’, 학생은 템플릿의 001과 002를 사용합니다.</a:t>
            </a:r>
          </a:p>
        </p:txBody>
      </p:sp>
    </p:spTree>
    <p:extLst>
      <p:ext uri="{BB962C8B-B14F-4D97-AF65-F5344CB8AC3E}">
        <p14:creationId xmlns:p14="http://schemas.microsoft.com/office/powerpoint/2010/main" val="179242785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E4B26A-293E-4020-B892-CD98FA1B8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엑셀 명단 미리보기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98C515-6D55-4B39-9CC9-A4475C26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067562-3440-4FD6-99F4-94AECFD97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템플릿 작성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416001-EE9C-4087-AA28-5B290BCD3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users 시트의 user_id와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name을 입력합니다. group은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선택이며 001 같은 ID는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텍스트로 유지합니다.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321917-F231-4993-B062-51EDE917E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등록 전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C1EC70-058B-4B36-9027-19DD2A1A2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파일을 올리고 ‘명단 검증 및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미리보기’를 누릅니다.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오류가 없으면 ‘검증된 명단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반영’을 누릅니다.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fbfeabaab54726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9C9F6C-EF14-4B75-B039-E428C451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배포 템플릿의 001, 002는 예시입니다. 실제 사용 시 예시 행을 실제 명단으로 교체하세요.</a:t>
            </a:r>
          </a:p>
        </p:txBody>
      </p:sp>
    </p:spTree>
    <p:extLst>
      <p:ext uri="{BB962C8B-B14F-4D97-AF65-F5344CB8AC3E}">
        <p14:creationId xmlns:p14="http://schemas.microsoft.com/office/powerpoint/2010/main" val="212428717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EEA62C-7D05-4912-A94B-E4C468517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계정 등록과 비밀번호 전달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B4D892-37FA-44A4-A353-0F4250E26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2A6309-5977-405C-B476-B7A3D9B9E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임시비밀번호 보관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6CB187-B91F-40E0-ABA7-BA29EAD4F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등록 직후 임시비밀번호 결과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CSV를 내려받고 학생별로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안전하게 전달합니다. 결과를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닫으면 다시 조회할 수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없습니다.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89F76C-ED61-4BE2-8F64-734569878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등록 결과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D10F34-7135-4E1F-9DE7-8C72BD97B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사용자 목록에서 ID, 이름,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활성 상태를 확인합니다.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잊은 비밀번호는 관리자가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초기화합니다.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c322763575463f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106E23-1BBA-4437-9F10-8D321FA7F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캡처는 비밀번호 결과를 닫은 뒤의 화면입니다. 재등록만으로 기존 비밀번호와 제출 기록이 바뀌지는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47600371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B4F6F8-9D15-40D6-987B-569A22CA3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 만들기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87B855-353E-4522-B638-9974062D3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EC662E-DB80-4CC4-8559-5C6ECCC18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과제 입력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A7FE8C-48FC-45EB-B372-B0BB5FDC3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 관리에서 ‘새 과제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추가’를 펼칩니다. 예시는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‘1주차 실습 과제’입니다.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D3C4DA-B6E3-495E-96E2-8CA9FD119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접수 시작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6C3C90-3EFE-4E63-85CA-F1623AA41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설명을 입력하고 ‘즉시 접수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시작’을 확인한 뒤 ‘과제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추가’를 누릅니다.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82b802c35c4b31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EE0519-D89C-47A5-9D41-E78D36954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기본 과제를 수정해서 사용해도 됩니다. 여러 과제를 운영할 때는 학생에게 정확한 과제명을 안내하세요.</a:t>
            </a:r>
          </a:p>
        </p:txBody>
      </p:sp>
    </p:spTree>
    <p:extLst>
      <p:ext uri="{BB962C8B-B14F-4D97-AF65-F5344CB8AC3E}">
        <p14:creationId xmlns:p14="http://schemas.microsoft.com/office/powerpoint/2010/main" val="203312092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B4AF69-53AD-48BB-BBE8-CE5446DC9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학생의 첫 로그인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F312EE-D2E3-4329-8CBD-6964BD4E0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4A6DC7-B0A8-4BDA-AA31-189BC1FB8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임시비밀번호 사용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BE18D5-72E6-4BC3-B9F7-50887DBA9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학생은 전달받은 ID와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임시비밀번호로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로그인합니다. 예시 ID는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001입니다.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BA104E-FD28-4BC2-B5D8-313CB4CB7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새 비밀번호 설정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94259A-105E-4DD2-8EC1-FF5D52BA2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현재 임시비밀번호와 새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비밀번호를 입력합니다. 변경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후 새 비밀번호로 다시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로그인합니다.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7a13ca37cf4ee9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E331A2-5666-417D-899D-A08DA5CF0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비밀번호는 12~128자이며 현재 값과 달라야 합니다. 변경을 마쳐야 과제를 제출할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80498764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2FB352-2C3E-4327-BE3C-3850DECB1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학생의 제출 화면 연결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EEDBCC-577B-495B-85C8-012CCD1FB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C0AC80-9DFF-46CE-B9C2-6C9DDFA81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연결 코드 발급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2FB029-4B3F-4424-9506-F50DC8401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‘일회용 연결 코드 발급’을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누르고 코드를 복사합니다.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7009D3-EB60-4A21-8055-33051483E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제출 창 열기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692F76-FC24-46E2-9703-558443D1A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‘파일 제출·이어 올리기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화면 열기’를 누릅니다.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다음 화면에서 코드를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입력합니다.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5e9e0d27f3421e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D1F396-69A6-4624-8035-D597FFD82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코드는 120초 동안 한 번만 사용할 수 있습니다. 캡처에서는 코드 영역을 가렸습니다.</a:t>
            </a:r>
          </a:p>
        </p:txBody>
      </p:sp>
    </p:spTree>
    <p:extLst>
      <p:ext uri="{BB962C8B-B14F-4D97-AF65-F5344CB8AC3E}">
        <p14:creationId xmlns:p14="http://schemas.microsoft.com/office/powerpoint/2010/main" val="197279085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A2E2E9-6475-4CB3-8358-46989B31D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 창 로그인 방법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7522AA-218E-4B8E-98F7-B494C2D2D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567118-E062-4B65-A682-BF0E1252B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코드로 연결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4FA4C2-5BDB-43A2-B844-797AAFE71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복사한 코드를 입력하고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‘코드로 연결’을 누릅니다.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42C0A8-5F1A-4E9F-88DE-15897A197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계정으로 연결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912AAC-7457-4493-8772-E0A9A6D64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코드가 만료되었거나 창을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다시 열었다면 같은 학생 ID와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새 비밀번호로 로그인해도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81ebff8cbd479a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E0D46C-BDD6-4EE6-92CB-4C9AF4CC4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다른 사람의 계정이나 연결 코드를 사용하지 마세요. 로그인 후 이름과 ID를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4708011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86F1CC-3791-4EB8-8AAB-67EE6F260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과제와 파일 선택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1B099B-E1B1-4102-BDE7-6280599D1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0260DB-5146-4917-99D5-507D71992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과제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197438-C1EE-4178-AE2D-6D7BD20F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제출할 과제를 ‘1주차 실습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과제’로 선택합니다.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FED1DD-D31A-4A43-B7B0-16F313ADB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파일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91789E-70A7-4405-B3AF-2A7282424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제출할 파일을 선택하고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이름, 개수, 총용량을 확인한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뒤 ‘제출 시작’을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누릅니다.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f6900fd27c45f7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64B336-9206-4BBF-B5BE-08269D535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선택한 파일 전체가 하나의 제출 묶음입니다. 오른쪽에서 나의 사용량과 파일당 한도를 확인할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83631092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BD02EF-9719-403A-90A5-3BBDAF1AF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전송 중단 상태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4F1F45-59B5-4290-AD44-FAF85CAC0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5E0E5E-03B8-4CDF-B723-6BB531AA0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전송 상태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89CFFB-9D79-495F-854D-B4D09BA64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예시에서는 전송 도중 연결을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끊고 일시 중지했습니다.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서버가 확정한 수신량을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26A94A-206C-4CF7-8C9D-8D3B7AF89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창을 유지한 경우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28701C-3341-4DD4-91F2-6C09A984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네트워크를 복구한 뒤 ‘다시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시도’를 누릅니다. 완료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전까지 원본 파일을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보관합니다.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af84791d5f4af1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941210-E686-4EAB-BBCB-F8F8A91DE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전송 중이거나 일시 중지된 작업은 제출 완료로 집계하지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23811764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169E1D-1C9D-4AB2-9883-2CA2363B2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새로고침 후 이어 올리기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471CA7-BBDD-4F4C-B8D0-1C1EB1CDA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95282F-F306-4279-BF24-1A2C9DBD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기존 작업 선택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2E0469-C510-45B9-8D2F-12FEA6018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다시 로그인하고 ‘이어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올리기’ 영역에서 ‘이 작업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이어 올리기’를 누릅니다.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좁은 화면에서는 아래로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스크롤합니다.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9F1365-17A5-4771-A209-693C7050E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원본 다시 선택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D9439D-F6A1-43D1-8406-6947DC2E1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처음 선택한 파일을 모두 다시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선택하고 ‘확인 후 이어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올리기’를 누릅니다.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428260d95f43f8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09B750-863A-481D-8FEF-4717DDA4B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파일 이름만 같아서는 안 됩니다. 내용이 바뀌었다면 새 제출로 시작해야 합니다. 기본 보관 시간은 24시간입니다.</a:t>
            </a:r>
          </a:p>
        </p:txBody>
      </p:sp>
    </p:spTree>
    <p:extLst>
      <p:ext uri="{BB962C8B-B14F-4D97-AF65-F5344CB8AC3E}">
        <p14:creationId xmlns:p14="http://schemas.microsoft.com/office/powerpoint/2010/main" val="102491697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8A61EE-E7FC-42D2-A8FD-85F8DFD12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 완료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F9AAEF-A940-4543-AEEF-3AC790B7F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355B6A-354F-45AD-B9F3-BAA20F26D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완료 안내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C88F7D-850A-469F-876C-94066547E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‘제출이 완료되었습니다.’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안내와 제출번호가 나타날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때까지 기다립니다.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166CB8-D597-4EF1-8747-A78C92CFF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제출 정보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4FD1BE-3F72-4CF6-AECF-98EEB79FD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과제명, 파일명, 완료 시각을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 문의할 때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제출번호를 함께 전달합니다.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3aeafb47d44a3e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C4717D-0C3C-4744-832A-AF85565E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전송량이 100%여도 검증과 저장이 남아 있을 수 있습니다. 제출번호가 나온 묶음을 완료로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15713854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6A0EC7-A915-4200-8639-BDF1E2C3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내 제출 이력과 다운로드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71814C-1321-4CD6-A5E7-0DF79782D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F0055B-CE12-4A84-8DCF-9C504E00F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이력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E8B5B6-0550-448A-8378-3CD6F9C30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‘완료된 제출 이력’에서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과제명과 제출번호, 버전을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FEDE04-C45F-490D-825D-3DD64F75D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파일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B90908-61CD-49C5-BFF2-A367DD26F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파일 옆 ‘다운로드’를 눌러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저장된 파일을 내려받습니다.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다시 제출한 파일은 새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버전으로 남습니다.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1df38a9e424cbe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500B7A-58A8-4441-8794-1ED65DCE0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이 예시에서는 실제 파일을 내려받아 원본과 내용이 같은지 확인했습니다.</a:t>
            </a:r>
          </a:p>
        </p:txBody>
      </p:sp>
    </p:spTree>
    <p:extLst>
      <p:ext uri="{BB962C8B-B14F-4D97-AF65-F5344CB8AC3E}">
        <p14:creationId xmlns:p14="http://schemas.microsoft.com/office/powerpoint/2010/main" val="5036094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BCCDA6-4D3E-4168-A9DB-1E767F06B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관리자의 제출 현황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D23C16-353A-4900-A379-5DA4E343F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B63F95-B5B5-4E98-9D67-EE3CDB0C2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과제 선택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9102E8-3F5C-4E48-A41D-183E4AD43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‘제출 현황’에서 ‘1주차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실습 과제’를 선택합니다.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예시는 대상 2명 중 1명이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제출한 상태입니다.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B64A44-DB15-4091-B608-67490FC1C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후속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162267-9718-4F2A-B7DC-1C583C297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미제출자 필터로 안내 대상을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찾습니다. 아래 완료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제출물을 펼쳐 파일과 보존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버전을 확인합니다.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2de6c4280f4965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936293-379C-4F63-B9FE-64183238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한 학생이 여러 번 제출해도 제출자는 1명으로 셉니다. CSV 준비 버튼으로 현황을 내려받을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35281682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E3ACD0-4EF4-4E42-A39A-60A567BAA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저장 공간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1278FB-F7A8-45EF-AC64-2D82145EB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84986E-2F74-4ADC-A78D-08C659F33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사용량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715729-9CEF-4BDB-B76A-6311EB4C4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‘저장 공간·기록’에서 완료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사용량과 진행 중 예약 용량,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디스크 여유 공간을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D0C4ED-7C87-4301-A26C-C75FB8EEE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공간 부족 대응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F758F0-D55D-4DE1-A64F-490B7CD7D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미완료 작업 상태를 확인하고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필요하면 학생이 해당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업로드를 취소합니다. 한도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변경은 서버 중지 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진행합니다.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3b3d1230694c0e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C567FB-7B0D-46A5-AC34-F76BB5CAD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완료된 제출물은 자동 삭제하지 않습니다. 저장 폴더의 파일을 임의로 옮기거나 삭제하지 마세요.</a:t>
            </a:r>
          </a:p>
        </p:txBody>
      </p:sp>
    </p:spTree>
    <p:extLst>
      <p:ext uri="{BB962C8B-B14F-4D97-AF65-F5344CB8AC3E}">
        <p14:creationId xmlns:p14="http://schemas.microsoft.com/office/powerpoint/2010/main" val="95315298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BC787A-4A7F-48DC-BCA1-A8C0AB70D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수업 종료와 서버 중지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9DB0A9-40A0-43EA-84DA-EBFF7C790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11F3B5-5CD5-40EE-8421-18B52ABE3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작업 마무리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F774AE-BC8A-4F83-A2D0-EE2C86D8E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학생에게 전송 종료를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안내하고 제출 현황을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0B628D-7506-4E80-8A60-B1FE7277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서버 중지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865B55-F02E-4B01-A4B0-C6EB06449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서버 관리창에서 해당 과정을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선택한 뒤 ‘서버 중지’를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누릅니다. 중지 상태를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d3563418624d5b"/>
          <a:stretch xmlns:a="http://schemas.openxmlformats.org/drawingml/2006/main"/>
        </p:blipFill>
        <p:spPr>
          <a:xfrm xmlns:a="http://schemas.openxmlformats.org/drawingml/2006/main">
            <a:off x="5152900" y="1476375"/>
            <a:ext cx="9029951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063F5F-341D-4966-A261-02CF923A4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관리창의 닫기 버튼만 누르면 서버는 계속 실행됩니다. 다음 수업은 관리창을 다시 열고 서버를 시작하세요.</a:t>
            </a:r>
          </a:p>
        </p:txBody>
      </p:sp>
    </p:spTree>
    <p:extLst>
      <p:ext uri="{BB962C8B-B14F-4D97-AF65-F5344CB8AC3E}">
        <p14:creationId xmlns:p14="http://schemas.microsoft.com/office/powerpoint/2010/main" val="119217929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550BBD-F920-411D-BA1C-0C7B8176D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중지 후 백업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BA1374-AC7A-43AF-8BAF-DE09EB3C4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D93677-B8BA-4D5A-85F0-7A9F5E40C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1. 중지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DC8C60-E324-4A37-863B-02E13E468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서버 관리창에서 해당 과정이 중지 상태인지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A34185-092A-408B-B39D-DEE719847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828800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2. 함께 복사할 항목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6EE231-D382-43BD-B969-7BE8AB0B9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62225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instances의 과정 설정 JSON과 해당 과정의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저장 폴더 전체를 함께 복사합니다. 저장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폴더에는 DB, 인증 정보와 제출물이 들어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있습니다.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EB5D2F-B3CE-4987-AD56-AC3E8647D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25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3. 별도 위치에 보관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55894B-08D2-4CEA-B573-211A3CC05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날짜별 백업 폴더를 사용하고 접근 권한을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제한합니다. 완료 제출물만 골라 복사하면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계정과 제출 이력을 함께 복구할 수 없습니다.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973C99-8037-4058-959C-5071E4857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619625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4. 복원 시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E7D912-28CB-43B8-9590-E507256E6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353050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운영 문서의 복원 절차를 따릅니다. 기존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서버와 복원 서버가 같은 저장 폴더를 동시에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사용하지 않도록 합니다.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ADD109-0EB9-481E-83A0-B82CB50AD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39075"/>
            <a:ext cx="13239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실제 명단, 비밀번호 CSV, 데이터 폴더와 백업 파일은 GitHub에 올리지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95192347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FF90B7-1855-4F10-93C8-66584C3B3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자주 생기는 상황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77DED1-16C3-44A7-A930-C2B7A6CFF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A68836-00B4-4BB2-BE0D-34D7B9BCC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로그인이 안 될 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447111-6025-4FFC-9BE7-25AF9DA72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과정 주소와 ID를 확인합니다. 비밀번호를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잊었다면 관리자에게 초기화를 요청합니다.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7087FA-3F61-4A96-BA95-6C7401B54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828800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다른 PC에서 접속이 안 될 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306784-6AE8-4B54-B5A6-8EA900479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62225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서버 IP와 포트를 확인하고 서버 관리창의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접속 점검을 실행합니다. 127.0.0.1은 서버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자체 접속용입니다.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99AAB6-DF54-4E89-ADBC-02BA79018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25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업로드를 이어 갈 수 없을 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64B72E-D085-46DB-A714-70DC9D46F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같은 계정과 원본 파일을 사용했는지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 취소하거나 보관 기간이 지난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작업은 새로 제출합니다.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662AFD-CF51-417D-B54E-22DE42AA4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619625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화면과 상세 안내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1CB41D-E379-4D76-9AAA-B7FBB4B9C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353050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README.md에서 설치 방법을,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docs/admin-guide.md와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docs/user-guide.md에서 세부 운영 절차를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확인할 수 있습니다.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9FAF17-9AF9-4221-812C-22F2EEBCC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39075"/>
            <a:ext cx="13239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교실의 다른 PC 접속과 TLS 인증서 운영은 환경에 맞게 별도로 확인해야 합니다.</a:t>
            </a:r>
          </a:p>
        </p:txBody>
      </p:sp>
    </p:spTree>
    <p:extLst>
      <p:ext uri="{BB962C8B-B14F-4D97-AF65-F5344CB8AC3E}">
        <p14:creationId xmlns:p14="http://schemas.microsoft.com/office/powerpoint/2010/main" val="96180558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A95A2D-521F-4B9A-B374-34FC2CF0C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작은 서버 관리창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E2C4C8-726A-439A-B9D2-B1F991719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CFE564-E9EA-443F-B7D4-2C5F00E68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창 크기 조절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059791-F4B5-4642-9DFE-12C57859B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관리창을 좁히면 실행 버튼이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두 줄로 배치됩니다. 주소는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입력 영역에서 선택하거나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주소 복사로 가져옵니다.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1A2144-78EB-4625-A4C8-FD981067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아래 영역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17B5D5-BC35-4001-ABFE-47400ED8A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높이가 부족하면 오른쪽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스크롤바나 마우스 휠로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이동합니다. 서버 시작과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중지 버튼은 같은 순서를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유지합니다.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03d231678040c3"/>
          <a:stretch xmlns:a="http://schemas.openxmlformats.org/drawingml/2006/main"/>
        </p:blipFill>
        <p:spPr>
          <a:xfrm xmlns:a="http://schemas.openxmlformats.org/drawingml/2006/main">
            <a:off x="5828567" y="1476375"/>
            <a:ext cx="7678615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F1585F-E734-47C7-8243-46DBC97E8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예시는 640 × 520 크기의 관리창입니다. 과정 설정 창에서도 스크롤과 Tab 키로 입력란을 이동할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96296407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3E5CA9-0E11-4465-9B31-16523509E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좁은 화면의 파일 제출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FDF792-883C-4402-BD0D-0529D4C22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8E7A3C-78D4-4F33-80DF-BB1604C72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파일 선택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523638-5181-4CD9-B596-1B6F6AC52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파일 선택 버튼으로 원본을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선택합니다. PC에서는 파일을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 영역으로 끌어 놓을 수도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있습니다.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EDCF55-A9C2-4088-A446-45538DB54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용량과 이어 올리기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62C373-FADC-4BC1-83BD-29B519505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화면이 좁으면 저장 용량과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이어 올리기가 선택 영역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아래에 나타납니다. 아래로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스크롤해 확인합니다.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79aafad6c440c1"/>
          <a:stretch xmlns:a="http://schemas.openxmlformats.org/drawingml/2006/main"/>
        </p:blipFill>
        <p:spPr>
          <a:xfrm xmlns:a="http://schemas.openxmlformats.org/drawingml/2006/main">
            <a:off x="8345505" y="1476375"/>
            <a:ext cx="2644740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8BD953-BFCB-41A5-9A6A-9218541A5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예시는 브라우저 폭 390px입니다. 파일을 선택한 뒤 제출 시작을 눌러야 전송합니다.</a:t>
            </a:r>
          </a:p>
        </p:txBody>
      </p:sp>
    </p:spTree>
    <p:extLst>
      <p:ext uri="{BB962C8B-B14F-4D97-AF65-F5344CB8AC3E}">
        <p14:creationId xmlns:p14="http://schemas.microsoft.com/office/powerpoint/2010/main" val="100276862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B60FAF-D34A-4B24-B54C-A4DA76520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창 크기에 맞춘 제출 현황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345FF9-9495-44A9-A81F-3BA36C601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6EE977-150C-443C-88E1-CEF220AB8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메뉴와 현황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902ECB-35A9-4318-82AF-4BD9EC1AE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작은 화면에서는 왼쪽 위의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메뉴 열기 버튼으로 관리자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메뉴를 펼칩니다. 수치와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입력란은 창 너비에 맞춰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재배치됩니다.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5200A6-F7A4-4EA0-92F8-F0B7C6694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표의 나머지 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B134CD-84D8-4B3A-B314-D88FDD8FC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표가 화면보다 넓으면 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안에서 가로로 스크롤합니다.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상세 제출 이력은 아래쪽에서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펼쳐 확인합니다.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7fe543d6fa4758"/>
          <a:stretch xmlns:a="http://schemas.openxmlformats.org/drawingml/2006/main"/>
        </p:blipFill>
        <p:spPr>
          <a:xfrm xmlns:a="http://schemas.openxmlformats.org/drawingml/2006/main">
            <a:off x="7328297" y="1476375"/>
            <a:ext cx="4679156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AB986D-39FE-472D-8E02-48BD64770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예시는 브라우저 폭 768px입니다. 같은 메뉴와 기능을 창 크기에 맞춰 사용할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9928646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2026-09-07T22:45:17.3050000Z</dcterms:created>
  <dcterms:modified xsi:type="dcterms:W3CDTF">2026-09-07T22:45:17.3050000Z</dcterms:modified>
</coreProperties>
</file>