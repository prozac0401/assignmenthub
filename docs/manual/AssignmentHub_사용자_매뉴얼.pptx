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35ae70683a041dc" /><Relationship Type="http://schemas.openxmlformats.org/officeDocument/2006/relationships/extended-properties" Target="/docProps/app.xml" Id="R2feb139a80bc46b7" /><Relationship Type="http://schemas.openxmlformats.org/officeDocument/2006/relationships/officeDocument" Target="/ppt/presentation.xml" Id="R2d1ea411cd0c475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7d539d73e27454f"/>
  </p:sldMasterIdLst>
  <p:notesMasterIdLst>
    <p:notesMasterId xmlns:r="http://schemas.openxmlformats.org/officeDocument/2006/relationships" r:id="Rbe9e306f02e7402b"/>
  </p:notesMasterIdLst>
  <p:sldIdLst>
    <p:sldId xmlns:r="http://schemas.openxmlformats.org/officeDocument/2006/relationships" id="256" r:id="Rb8701a4bae6a4656"/>
    <p:sldId xmlns:r="http://schemas.openxmlformats.org/officeDocument/2006/relationships" id="257" r:id="R308f8ed92d944ac4"/>
    <p:sldId xmlns:r="http://schemas.openxmlformats.org/officeDocument/2006/relationships" id="258" r:id="R6d0874e8c45e42f6"/>
    <p:sldId xmlns:r="http://schemas.openxmlformats.org/officeDocument/2006/relationships" id="259" r:id="R2723d68dd0e543fc"/>
    <p:sldId xmlns:r="http://schemas.openxmlformats.org/officeDocument/2006/relationships" id="260" r:id="Ra058f15837694221"/>
    <p:sldId xmlns:r="http://schemas.openxmlformats.org/officeDocument/2006/relationships" id="261" r:id="R1aeed348b0a7463f"/>
    <p:sldId xmlns:r="http://schemas.openxmlformats.org/officeDocument/2006/relationships" id="262" r:id="R097ed38df5fc45c7"/>
    <p:sldId xmlns:r="http://schemas.openxmlformats.org/officeDocument/2006/relationships" id="263" r:id="R79a12cad46db4ee0"/>
    <p:sldId xmlns:r="http://schemas.openxmlformats.org/officeDocument/2006/relationships" id="264" r:id="R87cf6ba8cfe64a74"/>
    <p:sldId xmlns:r="http://schemas.openxmlformats.org/officeDocument/2006/relationships" id="265" r:id="R7e654ba6024440ef"/>
    <p:sldId xmlns:r="http://schemas.openxmlformats.org/officeDocument/2006/relationships" id="266" r:id="Rb6aa6b9ca120463a"/>
    <p:sldId xmlns:r="http://schemas.openxmlformats.org/officeDocument/2006/relationships" id="267" r:id="R3be62588cf284212"/>
    <p:sldId xmlns:r="http://schemas.openxmlformats.org/officeDocument/2006/relationships" id="268" r:id="Rcb255da5ba484282"/>
    <p:sldId xmlns:r="http://schemas.openxmlformats.org/officeDocument/2006/relationships" id="269" r:id="R663920dcc32e46ed"/>
    <p:sldId xmlns:r="http://schemas.openxmlformats.org/officeDocument/2006/relationships" id="270" r:id="Rced3104c478c42d2"/>
    <p:sldId xmlns:r="http://schemas.openxmlformats.org/officeDocument/2006/relationships" id="271" r:id="Re337558794e743ce"/>
    <p:sldId xmlns:r="http://schemas.openxmlformats.org/officeDocument/2006/relationships" id="272" r:id="R78b302f80deb41c3"/>
    <p:sldId xmlns:r="http://schemas.openxmlformats.org/officeDocument/2006/relationships" id="273" r:id="Rafe88409f52a49e2"/>
    <p:sldId xmlns:r="http://schemas.openxmlformats.org/officeDocument/2006/relationships" id="274" r:id="R8d42458877944609"/>
    <p:sldId xmlns:r="http://schemas.openxmlformats.org/officeDocument/2006/relationships" id="275" r:id="R6917168132364d13"/>
    <p:sldId xmlns:r="http://schemas.openxmlformats.org/officeDocument/2006/relationships" id="276" r:id="Rfce16143d5404530"/>
    <p:sldId xmlns:r="http://schemas.openxmlformats.org/officeDocument/2006/relationships" id="277" r:id="R3aaa565aa4c04e85"/>
    <p:sldId xmlns:r="http://schemas.openxmlformats.org/officeDocument/2006/relationships" id="278" r:id="Ra00558122de24689"/>
    <p:sldId xmlns:r="http://schemas.openxmlformats.org/officeDocument/2006/relationships" id="279" r:id="Rad6ac739b1774b54"/>
    <p:sldId xmlns:r="http://schemas.openxmlformats.org/officeDocument/2006/relationships" id="280" r:id="R288bb640d9e04f7c"/>
    <p:sldId xmlns:r="http://schemas.openxmlformats.org/officeDocument/2006/relationships" id="281" r:id="R74b10508600b4899"/>
    <p:sldId xmlns:r="http://schemas.openxmlformats.org/officeDocument/2006/relationships" id="282" r:id="Rd7c8d7a9e1014ac0"/>
    <p:sldId xmlns:r="http://schemas.openxmlformats.org/officeDocument/2006/relationships" id="283" r:id="R98c7619bab844754"/>
    <p:sldId xmlns:r="http://schemas.openxmlformats.org/officeDocument/2006/relationships" id="284" r:id="R69dbde77b9394d5a"/>
    <p:sldId xmlns:r="http://schemas.openxmlformats.org/officeDocument/2006/relationships" id="285" r:id="Ra2232b670af84e04"/>
    <p:sldId xmlns:r="http://schemas.openxmlformats.org/officeDocument/2006/relationships" id="286" r:id="R7813fad6a19348ef"/>
    <p:sldId xmlns:r="http://schemas.openxmlformats.org/officeDocument/2006/relationships" id="287" r:id="R3fec1bf597844ae0"/>
    <p:sldId xmlns:r="http://schemas.openxmlformats.org/officeDocument/2006/relationships" id="288" r:id="Rc6fe819244fb479d"/>
    <p:sldId xmlns:r="http://schemas.openxmlformats.org/officeDocument/2006/relationships" id="289" r:id="R1bf82d4096aa4488"/>
    <p:sldId xmlns:r="http://schemas.openxmlformats.org/officeDocument/2006/relationships" id="290" r:id="R53c1aa59f9564a9d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739ace7c94246d9" /><Relationship Type="http://schemas.openxmlformats.org/officeDocument/2006/relationships/slideMaster" Target="/ppt/slideMasters/slideMaster1.xml" Id="R27d539d73e27454f" /><Relationship Type="http://schemas.openxmlformats.org/officeDocument/2006/relationships/notesMaster" Target="/ppt/notesMasters/notesMaster1.xml" Id="Rbe9e306f02e7402b" /><Relationship Type="http://schemas.openxmlformats.org/officeDocument/2006/relationships/presProps" Target="/ppt/presProps.xml" Id="R5a1eb588f8da4b4e" /><Relationship Type="http://schemas.openxmlformats.org/officeDocument/2006/relationships/tableStyles" Target="/ppt/tableStyles.xml" Id="R1ee0be0324f244d3" /><Relationship Type="http://schemas.openxmlformats.org/officeDocument/2006/relationships/slide" Target="/ppt/slides/slide1.xml" Id="Rb8701a4bae6a4656" /><Relationship Type="http://schemas.openxmlformats.org/officeDocument/2006/relationships/slide" Target="/ppt/slides/slide2.xml" Id="R308f8ed92d944ac4" /><Relationship Type="http://schemas.openxmlformats.org/officeDocument/2006/relationships/slide" Target="/ppt/slides/slide3.xml" Id="R6d0874e8c45e42f6" /><Relationship Type="http://schemas.openxmlformats.org/officeDocument/2006/relationships/slide" Target="/ppt/slides/slide4.xml" Id="R2723d68dd0e543fc" /><Relationship Type="http://schemas.openxmlformats.org/officeDocument/2006/relationships/slide" Target="/ppt/slides/slide5.xml" Id="Ra058f15837694221" /><Relationship Type="http://schemas.openxmlformats.org/officeDocument/2006/relationships/slide" Target="/ppt/slides/slide6.xml" Id="R1aeed348b0a7463f" /><Relationship Type="http://schemas.openxmlformats.org/officeDocument/2006/relationships/slide" Target="/ppt/slides/slide7.xml" Id="R097ed38df5fc45c7" /><Relationship Type="http://schemas.openxmlformats.org/officeDocument/2006/relationships/slide" Target="/ppt/slides/slide8.xml" Id="R79a12cad46db4ee0" /><Relationship Type="http://schemas.openxmlformats.org/officeDocument/2006/relationships/slide" Target="/ppt/slides/slide9.xml" Id="R87cf6ba8cfe64a74" /><Relationship Type="http://schemas.openxmlformats.org/officeDocument/2006/relationships/slide" Target="/ppt/slides/slide10.xml" Id="R7e654ba6024440ef" /><Relationship Type="http://schemas.openxmlformats.org/officeDocument/2006/relationships/slide" Target="/ppt/slides/slide11.xml" Id="Rb6aa6b9ca120463a" /><Relationship Type="http://schemas.openxmlformats.org/officeDocument/2006/relationships/slide" Target="/ppt/slides/slide12.xml" Id="R3be62588cf284212" /><Relationship Type="http://schemas.openxmlformats.org/officeDocument/2006/relationships/slide" Target="/ppt/slides/slide13.xml" Id="Rcb255da5ba484282" /><Relationship Type="http://schemas.openxmlformats.org/officeDocument/2006/relationships/slide" Target="/ppt/slides/slide14.xml" Id="R663920dcc32e46ed" /><Relationship Type="http://schemas.openxmlformats.org/officeDocument/2006/relationships/slide" Target="/ppt/slides/slide15.xml" Id="Rced3104c478c42d2" /><Relationship Type="http://schemas.openxmlformats.org/officeDocument/2006/relationships/slide" Target="/ppt/slides/slide16.xml" Id="Re337558794e743ce" /><Relationship Type="http://schemas.openxmlformats.org/officeDocument/2006/relationships/slide" Target="/ppt/slides/slide17.xml" Id="R78b302f80deb41c3" /><Relationship Type="http://schemas.openxmlformats.org/officeDocument/2006/relationships/slide" Target="/ppt/slides/slide18.xml" Id="Rafe88409f52a49e2" /><Relationship Type="http://schemas.openxmlformats.org/officeDocument/2006/relationships/slide" Target="/ppt/slides/slide19.xml" Id="R8d42458877944609" /><Relationship Type="http://schemas.openxmlformats.org/officeDocument/2006/relationships/slide" Target="/ppt/slides/slide20.xml" Id="R6917168132364d13" /><Relationship Type="http://schemas.openxmlformats.org/officeDocument/2006/relationships/slide" Target="/ppt/slides/slide21.xml" Id="Rfce16143d5404530" /><Relationship Type="http://schemas.openxmlformats.org/officeDocument/2006/relationships/slide" Target="/ppt/slides/slide22.xml" Id="R3aaa565aa4c04e85" /><Relationship Type="http://schemas.openxmlformats.org/officeDocument/2006/relationships/slide" Target="/ppt/slides/slide23.xml" Id="Ra00558122de24689" /><Relationship Type="http://schemas.openxmlformats.org/officeDocument/2006/relationships/slide" Target="/ppt/slides/slide24.xml" Id="Rad6ac739b1774b54" /><Relationship Type="http://schemas.openxmlformats.org/officeDocument/2006/relationships/slide" Target="/ppt/slides/slide25.xml" Id="R288bb640d9e04f7c" /><Relationship Type="http://schemas.openxmlformats.org/officeDocument/2006/relationships/slide" Target="/ppt/slides/slide26.xml" Id="R74b10508600b4899" /><Relationship Type="http://schemas.openxmlformats.org/officeDocument/2006/relationships/slide" Target="/ppt/slides/slide27.xml" Id="Rd7c8d7a9e1014ac0" /><Relationship Type="http://schemas.openxmlformats.org/officeDocument/2006/relationships/slide" Target="/ppt/slides/slide28.xml" Id="R98c7619bab844754" /><Relationship Type="http://schemas.openxmlformats.org/officeDocument/2006/relationships/slide" Target="/ppt/slides/slide29.xml" Id="R69dbde77b9394d5a" /><Relationship Type="http://schemas.openxmlformats.org/officeDocument/2006/relationships/slide" Target="/ppt/slides/slide30.xml" Id="Ra2232b670af84e04" /><Relationship Type="http://schemas.openxmlformats.org/officeDocument/2006/relationships/slide" Target="/ppt/slides/slide31.xml" Id="R7813fad6a19348ef" /><Relationship Type="http://schemas.openxmlformats.org/officeDocument/2006/relationships/slide" Target="/ppt/slides/slide32.xml" Id="R3fec1bf597844ae0" /><Relationship Type="http://schemas.openxmlformats.org/officeDocument/2006/relationships/slide" Target="/ppt/slides/slide33.xml" Id="Rc6fe819244fb479d" /><Relationship Type="http://schemas.openxmlformats.org/officeDocument/2006/relationships/slide" Target="/ppt/slides/slide34.xml" Id="R1bf82d4096aa4488" /><Relationship Type="http://schemas.openxmlformats.org/officeDocument/2006/relationships/slide" Target="/ppt/slides/slide35.xml" Id="R53c1aa59f9564a9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836fbeb535e42e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46ae00e25094045" /><Relationship Type="http://schemas.openxmlformats.org/officeDocument/2006/relationships/notesMaster" Target="/ppt/notesMasters/notesMaster1.xml" Id="R3c0a5d8a47794bf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a3ce75c0ade4c2b" /><Relationship Type="http://schemas.openxmlformats.org/officeDocument/2006/relationships/notesMaster" Target="/ppt/notesMasters/notesMaster1.xml" Id="R5fbcbe63bc24408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3129cfa528b431c" /><Relationship Type="http://schemas.openxmlformats.org/officeDocument/2006/relationships/notesMaster" Target="/ppt/notesMasters/notesMaster1.xml" Id="Re496bd14148c448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38c8fcd5abc418a" /><Relationship Type="http://schemas.openxmlformats.org/officeDocument/2006/relationships/notesMaster" Target="/ppt/notesMasters/notesMaster1.xml" Id="R334caca2112241d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362a9b172864f64" /><Relationship Type="http://schemas.openxmlformats.org/officeDocument/2006/relationships/notesMaster" Target="/ppt/notesMasters/notesMaster1.xml" Id="Raf20b2b4aac74a5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42247518bb041a9" /><Relationship Type="http://schemas.openxmlformats.org/officeDocument/2006/relationships/notesMaster" Target="/ppt/notesMasters/notesMaster1.xml" Id="Rec9a1240def0489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9c61bd492c94289" /><Relationship Type="http://schemas.openxmlformats.org/officeDocument/2006/relationships/notesMaster" Target="/ppt/notesMasters/notesMaster1.xml" Id="R0aeed6317972458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a0035f69e264115" /><Relationship Type="http://schemas.openxmlformats.org/officeDocument/2006/relationships/notesMaster" Target="/ppt/notesMasters/notesMaster1.xml" Id="R6979906822be4fe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28b1225e5694501" /><Relationship Type="http://schemas.openxmlformats.org/officeDocument/2006/relationships/notesMaster" Target="/ppt/notesMasters/notesMaster1.xml" Id="R006146d7238745a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d8b2318c328463b" /><Relationship Type="http://schemas.openxmlformats.org/officeDocument/2006/relationships/notesMaster" Target="/ppt/notesMasters/notesMaster1.xml" Id="Ra07455aeece64b4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2af7368ab754801" /><Relationship Type="http://schemas.openxmlformats.org/officeDocument/2006/relationships/notesMaster" Target="/ppt/notesMasters/notesMaster1.xml" Id="Rbe89807c304c4e5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2ae2b4e67eb40cf" /><Relationship Type="http://schemas.openxmlformats.org/officeDocument/2006/relationships/notesMaster" Target="/ppt/notesMasters/notesMaster1.xml" Id="Rc8bbc475828448b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3677c63d22f4026" /><Relationship Type="http://schemas.openxmlformats.org/officeDocument/2006/relationships/notesMaster" Target="/ppt/notesMasters/notesMaster1.xml" Id="Rd95cf404000748d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5128d05801842a2" /><Relationship Type="http://schemas.openxmlformats.org/officeDocument/2006/relationships/notesMaster" Target="/ppt/notesMasters/notesMaster1.xml" Id="Rb6daf5c32ddd494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734c7aea0f34f8e" /><Relationship Type="http://schemas.openxmlformats.org/officeDocument/2006/relationships/notesMaster" Target="/ppt/notesMasters/notesMaster1.xml" Id="R57be8fe2fd944bb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400d64e0c9f4337" /><Relationship Type="http://schemas.openxmlformats.org/officeDocument/2006/relationships/notesMaster" Target="/ppt/notesMasters/notesMaster1.xml" Id="R9df9e6b56afc4b1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cec65f76431415a" /><Relationship Type="http://schemas.openxmlformats.org/officeDocument/2006/relationships/notesMaster" Target="/ppt/notesMasters/notesMaster1.xml" Id="R33f6c268dff248b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126264e56e74598" /><Relationship Type="http://schemas.openxmlformats.org/officeDocument/2006/relationships/notesMaster" Target="/ppt/notesMasters/notesMaster1.xml" Id="Ra93d0f5fb56841e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10af5f174fc4825" /><Relationship Type="http://schemas.openxmlformats.org/officeDocument/2006/relationships/notesMaster" Target="/ppt/notesMasters/notesMaster1.xml" Id="Rbf93e1cd331841f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808940fb2e74b99" /><Relationship Type="http://schemas.openxmlformats.org/officeDocument/2006/relationships/notesMaster" Target="/ppt/notesMasters/notesMaster1.xml" Id="R9d9bffbca17147a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1bb8d6eaa9b341ec" /><Relationship Type="http://schemas.openxmlformats.org/officeDocument/2006/relationships/notesMaster" Target="/ppt/notesMasters/notesMaster1.xml" Id="R599631b25f57452f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e8bb81441b0d4b19" /><Relationship Type="http://schemas.openxmlformats.org/officeDocument/2006/relationships/notesMaster" Target="/ppt/notesMasters/notesMaster1.xml" Id="Rc40e2a189a6949a1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c76a2eae3dca42df" /><Relationship Type="http://schemas.openxmlformats.org/officeDocument/2006/relationships/notesMaster" Target="/ppt/notesMasters/notesMaster1.xml" Id="R4e00fa054d334efd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185ead933c864fd6" /><Relationship Type="http://schemas.openxmlformats.org/officeDocument/2006/relationships/notesMaster" Target="/ppt/notesMasters/notesMaster1.xml" Id="R15681aea581a4e75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3fb9c6ab0ece47bc" /><Relationship Type="http://schemas.openxmlformats.org/officeDocument/2006/relationships/notesMaster" Target="/ppt/notesMasters/notesMaster1.xml" Id="Rac61e1a0467648ce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61866e035e3b472f" /><Relationship Type="http://schemas.openxmlformats.org/officeDocument/2006/relationships/notesMaster" Target="/ppt/notesMasters/notesMaster1.xml" Id="R40a234a5fe3c4407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8f66a90b0da24e50" /><Relationship Type="http://schemas.openxmlformats.org/officeDocument/2006/relationships/notesMaster" Target="/ppt/notesMasters/notesMaster1.xml" Id="R5e93586025294e7a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58b60cd792ba462c" /><Relationship Type="http://schemas.openxmlformats.org/officeDocument/2006/relationships/notesMaster" Target="/ppt/notesMasters/notesMaster1.xml" Id="R9c32dcbf5df74b52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1f0d2cad649049e6" /><Relationship Type="http://schemas.openxmlformats.org/officeDocument/2006/relationships/notesMaster" Target="/ppt/notesMasters/notesMaster1.xml" Id="R7f7f0490f8784621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67465a945eeb4f57" /><Relationship Type="http://schemas.openxmlformats.org/officeDocument/2006/relationships/notesMaster" Target="/ppt/notesMasters/notesMaster1.xml" Id="R12bc8bebaa2742ba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8b8f8507d5484b90" /><Relationship Type="http://schemas.openxmlformats.org/officeDocument/2006/relationships/notesMaster" Target="/ppt/notesMasters/notesMaster1.xml" Id="Rd9e0a5aa23b6468e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a4c4539577f8401d" /><Relationship Type="http://schemas.openxmlformats.org/officeDocument/2006/relationships/notesMaster" Target="/ppt/notesMasters/notesMaster1.xml" Id="Red0838fd810347c3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4ca47968f8074827" /><Relationship Type="http://schemas.openxmlformats.org/officeDocument/2006/relationships/notesMaster" Target="/ppt/notesMasters/notesMaster1.xml" Id="Rfaf8eafd84fe448a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9411a893769a4afd" /><Relationship Type="http://schemas.openxmlformats.org/officeDocument/2006/relationships/notesMaster" Target="/ppt/notesMasters/notesMaster1.xml" Id="Re16d42bda7234346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b60a767a74564586" /><Relationship Type="http://schemas.openxmlformats.org/officeDocument/2006/relationships/notesMaster" Target="/ppt/notesMasters/notesMaster1.xml" Id="R182f1a9f05c7447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운영자는 시나리오 01~04를 먼저 확인합니다. 수강생은 05~08을 참고합니다. 배포용 퀵가이드에는 운영자와 수강생 절차를 각각 한 쪽에 정리했습니다.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운영자는 01~04부터, 수강생은 05~08부터 확인합니다. 빠른 안내는 별도 2쪽 퀵가이드를 사용하세요.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다운로드와 압축 해제</a:t>
            </a:r>
          </a:p>
          <a:p xmlns:a="http://schemas.openxmlformats.org/drawingml/2006/main">
            <a:r>
              <a:t>v1.2.0의 Windows x64 배포 ZIP 전체를 쓰기 가능한 폴더에 풉니다. Python과 라이브러리가 포함되어 있습니다.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관리창 실행</a:t>
            </a:r>
          </a:p>
          <a:p xmlns:a="http://schemas.openxmlformats.org/drawingml/2006/main">
            <a:r>
              <a:t>폴더 안의 start.bat를 더블클릭합니다. 관리창이 열리면 새 과정 만들기를 선택합니다.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ZIP 내부에서 직접 실행하지 마세요. setup.bat는 선택적인 오프라인 점검이며 설치 도구가 아닙니다.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수업 예시</a:t>
            </a:r>
          </a:p>
          <a:p xmlns:a="http://schemas.openxmlformats.org/drawingml/2006/main">
            <a:r>
              <a:t>과정명은 파이썬 기초 실습으로 입력합니다. 안내 IP는 실제 서버 PC의 교육장 네트워크 주소를 선택합니다.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저장 위치와 계정</a:t>
            </a:r>
          </a:p>
          <a:p xmlns:a="http://schemas.openxmlformats.org/drawingml/2006/main">
            <a:r>
              <a:t>과정 ID·포트·저장 폴더를 확인합니다. 관리자 ID와 12~128자의 비밀번호를 정하고 확인란에도 입력합니다.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캡처의 127.0.0.1과 임시 경로는 예시입니다. 다른 PC에는 실제 서버의 IP와 포트를 안내합니다.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기본값 확인</a:t>
            </a:r>
          </a:p>
          <a:p xmlns:a="http://schemas.openxmlformats.org/drawingml/2006/main">
            <a:r>
              <a:t>파일당 2 GiB, 수강생별 누적 10 GiB, 디스크 최소 여유 5 GiB입니다. 한 번에 최대 10개 파일을 제출합니다.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과정 생성</a:t>
            </a:r>
          </a:p>
          <a:p xmlns:a="http://schemas.openxmlformats.org/drawingml/2006/main">
            <a:r>
              <a:t>용량·전송 설정을 확인한 뒤 과정 만들기를 누릅니다. 다음 수업부터는 저장된 과정을 선택하면 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누적 사용량에는 다른 과제와 이전 제출 버전도 포함합니다. 기존 파일은 한도를 낮춰도 삭제되지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실행 중 확인</a:t>
            </a:r>
          </a:p>
          <a:p xmlns:a="http://schemas.openxmlformats.org/drawingml/2006/main">
            <a:r>
              <a:t>과정을 선택하고 서버 시작을 누릅니다. 상태가 실행 중이 되면 관리자 화면 열기를 선택합니다.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수강생 접속 확인</a:t>
            </a:r>
          </a:p>
          <a:p xmlns:a="http://schemas.openxmlformats.org/drawingml/2006/main">
            <a:r>
              <a:t>주소 복사로 URL을 전달합니다. 예: http://192.168.0.10:8501. 수강생 PC에서도 같은 주소가 열리는지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예시 IP를 그대로 쓰지 말고 실제 주소로 바꾸세요. 관리창을 닫아도 서버는 계속 실행됩니다.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관리자 로그인</a:t>
            </a:r>
          </a:p>
          <a:p xmlns:a="http://schemas.openxmlformats.org/drawingml/2006/main">
            <a:r>
              <a:t>과정을 만들 때 정한 관리자 계정으로 로그인합니다. 운영 안내에서 수강생 명단 등록으로 이동합니다.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준비 완료 기준</a:t>
            </a:r>
          </a:p>
          <a:p xmlns:a="http://schemas.openxmlformats.org/drawingml/2006/main">
            <a:r>
              <a:t>명단이 등록되고 수업에 사용할 과제가 접수 중인지 확인합니다. 학생에게 접속 주소와 본인의 계정을 안내합니다.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학생별 임시비밀번호를 전체 공지에 올리지 말고 해당 학생에게 전달합니다.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첫 명단 예시</a:t>
            </a:r>
          </a:p>
          <a:p xmlns:a="http://schemas.openxmlformats.org/drawingml/2006/main">
            <a:r>
              <a:t>user_id, name, group 헤더와 001 홍길동 A반, 002 김민수 B반을 탭으로 구분해 붙여넣습니다.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미리보기와 반영</a:t>
            </a:r>
          </a:p>
          <a:p xmlns:a="http://schemas.openxmlformats.org/drawingml/2006/main">
            <a:r>
              <a:t>명단 검증 및 미리보기를 누릅니다. 오류가 없고 ID·이름·그룹이 맞으면 검증된 명단 반영을 누릅니다.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user_id와 name은 필수, group은 선택입니다. 엑셀에서 헤더를 포함한 셀 범위를 복사해도 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파일 작성</a:t>
            </a:r>
          </a:p>
          <a:p xmlns:a="http://schemas.openxmlformats.org/drawingml/2006/main">
            <a:r>
              <a:t>명단 TSV 템플릿을 내려받거나 동봉한 01-first-roster.tsv를 수정합니다. ID는 001처럼 텍스트 그대로 작성합니다.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파일 업로드</a:t>
            </a:r>
          </a:p>
          <a:p xmlns:a="http://schemas.openxmlformats.org/drawingml/2006/main">
            <a:r>
              <a:t>TSV 파일 업로드를 선택하고 .tsv 또는 .txt 파일을 올립니다. 검증 후 미리보기를 확인해 반영합니다.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UTF-8 또는 BOM이 있는 UTF-16을 지원합니다. 최대 5 MiB, 10,000명, 30열입니다.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오류 예시</a:t>
            </a:r>
          </a:p>
          <a:p xmlns:a="http://schemas.openxmlformats.org/drawingml/2006/main">
            <a:r>
              <a:t>001을 서로 다른 두 사람에게 입력하면 중복 ID 오류가 표시됩니다. 검증된 명단 반영은 사용할 수 없습니다.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수정 후 재검증</a:t>
            </a:r>
          </a:p>
          <a:p xmlns:a="http://schemas.openxmlformats.org/drawingml/2006/main">
            <a:r>
              <a:t>두 번째 ID를 002로 고친 뒤 다시 검증합니다. 입력 내용이나 입력 방법이 바뀌면 이전 미리보기는 해제됩니다.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엑셀에서 이미 숫자로 바뀌어 사라진 0은 복원하지 않습니다. 001과 1은 서로 다른 계정입니다.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신규 계정 확인</a:t>
            </a:r>
          </a:p>
          <a:p xmlns:a="http://schemas.openxmlformats.org/drawingml/2006/main">
            <a:r>
              <a:t>반영 직후 신규 사용자의 임시비밀번호가 표시됩니다. 임시비밀번호 결과 CSV를 내려받아 학생별로 전달합니다.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결과 닫기</a:t>
            </a:r>
          </a:p>
          <a:p xmlns:a="http://schemas.openxmlformats.org/drawingml/2006/main">
            <a:r>
              <a:t>전달을 마치면 임시비밀번호 결과 닫기를 누릅니다. 화면 예시는 결과를 닫은 뒤의 사용자 목록입니다.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명단 입력은 TSV입니다. 비밀번호와 현황의 내보내기 파일은 CSV이며, 초기 비밀번호는 다시 조회할 수 없습니다.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변경 명단 예시</a:t>
            </a:r>
          </a:p>
          <a:p xmlns:a="http://schemas.openxmlformats.org/drawingml/2006/main">
            <a:r>
              <a:t>002 김민수를 B반에서 A반으로 옮기고, 003 이서연을 B반에 추가합니다. 두 행만 TSV로 입력해 검증합니다.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기존 정보 갱신</a:t>
            </a:r>
          </a:p>
          <a:p xmlns:a="http://schemas.openxmlformats.org/drawingml/2006/main">
            <a:r>
              <a:t>기존 계정의 이름·그룹 변경도 적용 옵션을 선택하고 반영합니다. 신규 1명 등록과 기존 1명 변경을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기존 비밀번호·활성 상태·제출은 유지합니다. 이번 TSV에 없는 기존 계정을 삭제하거나 비활성화하지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대상 확인</a:t>
            </a:r>
          </a:p>
          <a:p xmlns:a="http://schemas.openxmlformats.org/drawingml/2006/main">
            <a:r>
              <a:t>사용자 관리에서 ID 002를 검색하고 관리할 수강생을 확인합니다. 기존 권한 무효화 안내에 체크합니다.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초기화와 재로그인</a:t>
            </a:r>
          </a:p>
          <a:p xmlns:a="http://schemas.openxmlformats.org/drawingml/2006/main">
            <a:r>
              <a:t>비밀번호 초기화를 눌러 새 임시비밀번호를 해당 학생에게 전달합니다. 학생은 새 비밀번호로 변경 후 다시 로그인합니다.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초기화는 기존 로그인·업로드 권한을 즉시 무효화합니다. 완료된 제출 파일과 이력은 유지합니다.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과제 작성</a:t>
            </a:r>
          </a:p>
          <a:p xmlns:a="http://schemas.openxmlformats.org/drawingml/2006/main">
            <a:r>
              <a:t>과제 관리에서 새 과제 추가를 펼칩니다. 제목은 1주차 실습 과제, 설명에는 제출할 파일과 수정본 처리 방법을 적습니다.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접수 시작</a:t>
            </a:r>
          </a:p>
          <a:p xmlns:a="http://schemas.openxmlformats.org/drawingml/2006/main">
            <a:r>
              <a:t>즉시 접수 시작을 확인하고 과제 추가를 누릅니다. 학생에게 여러 과제 중 선택할 정확한 제목을 안내합니다.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처음 생성된 기본 과제를 수정해 사용해도 됩니다. 여기서는 별도 과제를 추가하는 상황입니다.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마감 예시</a:t>
            </a:r>
          </a:p>
          <a:p xmlns:a="http://schemas.openxmlformats.org/drawingml/2006/main">
            <a:r>
              <a:t>수업 종료 시 과제 관리에서 1주차 실습 과제를 선택합니다. 접수 중을 해제하고 변경 사항 저장을 누릅니다.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종료의 범위</a:t>
            </a:r>
          </a:p>
          <a:p xmlns:a="http://schemas.openxmlformats.org/drawingml/2006/main">
            <a:r>
              <a:t>이후 신규 제출 시작을 막습니다. 종료 전에 시작한 유효한 업로드는 보관 시간 내에 완료할 수 있습니다.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즉시 모든 전송을 멈춰야 한다면 학생에게 안내하고 서버를 중지합니다. 접수 종료만으로 기존 전송을 끊지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받은 계정 입력</a:t>
            </a:r>
          </a:p>
          <a:p xmlns:a="http://schemas.openxmlformats.org/drawingml/2006/main">
            <a:r>
              <a:t>서버 주소를 열고 ID 001과 본인의 임시비밀번호로 로그인합니다. ID의 앞자리 0과 대소문자를 그대로 입력합니다.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비밀번호 변경</a:t>
            </a:r>
          </a:p>
          <a:p xmlns:a="http://schemas.openxmlformats.org/drawingml/2006/main">
            <a:r>
              <a:t>현재 임시비밀번호와 새로운 12~128자 비밀번호를 입력합니다. 변경을 마치고 새 비밀번호로 다시 로그인합니다.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첫 비밀번호 변경을 마쳐야 과제를 조회하고 파일을 제출할 수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연결 코드 사용</a:t>
            </a:r>
          </a:p>
          <a:p xmlns:a="http://schemas.openxmlformats.org/drawingml/2006/main">
            <a:r>
              <a:t>일회용 연결 코드 발급을 눌러 코드를 복사합니다. 파일 제출·이어 올리기 화면 열기로 제출 창을 엽니다.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접속 계정 확인</a:t>
            </a:r>
          </a:p>
          <a:p xmlns:a="http://schemas.openxmlformats.org/drawingml/2006/main">
            <a:r>
              <a:t>제출 창에서 코드로 연결합니다. 연결 후 표시된 ID가 본인의 ID인지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코드는 짧은 시간 동안 한 번만 사용합니다. 예시 화면의 코드 영역은 가렸습니다.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코드가 만료된 경우</a:t>
            </a:r>
          </a:p>
          <a:p xmlns:a="http://schemas.openxmlformats.org/drawingml/2006/main">
            <a:r>
              <a:t>새 연결 코드를 받거나 제출 창의 ID와 비밀번호로 로그인합니다. 비밀번호는 처음 변경한 새 비밀번호입니다.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다시 연 창</a:t>
            </a:r>
          </a:p>
          <a:p xmlns:a="http://schemas.openxmlformats.org/drawingml/2006/main">
            <a:r>
              <a:t>새로고침이나 브라우저 재실행 후에도 본인 계정으로 로그인할 수 있습니다. 이어 올릴 작업은 로그인 후 선택합니다.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다른 사람의 계정으로 제출하면 그 계정의 이력에 남습니다. 본인 계정과 과제명을 확인하세요.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파일 선택 예시</a:t>
            </a:r>
          </a:p>
          <a:p xmlns:a="http://schemas.openxmlformats.org/drawingml/2006/main">
            <a:r>
              <a:t>1주차 실습 과제를 선택하고 1주차_실습결과.txt와 제출_설명.txt를 함께 선택합니다. PC에서는 끌어 놓기도 가능합니다.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전송 시작</a:t>
            </a:r>
          </a:p>
          <a:p xmlns:a="http://schemas.openxmlformats.org/drawingml/2006/main">
            <a:r>
              <a:t>파일명·개수·총용량과 내 저장 공간을 확인합니다. 제출 시작을 누르고 전송·검증·저장 상태를 기다립니다.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파일 선택만으로 전송되지 않습니다. 여러 파일은 하나의 묶음으로, 모두 끝나야 완료 제출로 집계됩니다.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완료 기준</a:t>
            </a:r>
          </a:p>
          <a:p xmlns:a="http://schemas.openxmlformats.org/drawingml/2006/main">
            <a:r>
              <a:t>제출이 완료되었습니다 안내와 제출번호가 나타나는지 확인합니다. 100% 진행률만으로 제출 완료를 판단하지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내역 확인</a:t>
            </a:r>
          </a:p>
          <a:p xmlns:a="http://schemas.openxmlformats.org/drawingml/2006/main">
            <a:r>
              <a:t>과제명, ID, 파일 목록, 버전과 서버 완료 시각을 확인합니다. 문의할 때 제출번호를 함께 알려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제출 이력에서 파일을 다운로드해 서버에 저장된 내용을 확인할 수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중단 상황</a:t>
            </a:r>
          </a:p>
          <a:p xmlns:a="http://schemas.openxmlformats.org/drawingml/2006/main">
            <a:r>
              <a:t>예시는 첫 파일의 일부가 서버에 저장된 뒤 전송이 중단된 상태입니다. 원본 파일을 수정하지 않고 보관합니다.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같은 창에서 재시도</a:t>
            </a:r>
          </a:p>
          <a:p xmlns:a="http://schemas.openxmlformats.org/drawingml/2006/main">
            <a:r>
              <a:t>네트워크가 복구되면 다시 시도를 누릅니다. 계속 실패하면 관리자에게 접속 상태와 남은 공간을 확인해 달라고 요청합니다.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서버가 확정한 수신량부터 이어 올립니다. 완료 전의 작업은 제출자 수에 포함되지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미완료 작업 선택</a:t>
            </a:r>
          </a:p>
          <a:p xmlns:a="http://schemas.openxmlformats.org/drawingml/2006/main">
            <a:r>
              <a:t>다시 로그인하고 이어 올리기에서 이 작업 이어 올리기를 누릅니다. 좁은 화면에서는 아래로 스크롤합니다.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동일 원본 다시 선택</a:t>
            </a:r>
          </a:p>
          <a:p xmlns:a="http://schemas.openxmlformats.org/drawingml/2006/main">
            <a:r>
              <a:t>처음의 두 파일을 모두 다시 선택하고 확인 후 이어 올리기를 누릅니다. 서버가 확인한 지점부터 전송을 계속합니다.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이름·크기·내용이 같은 원본이어야 합니다. 수정한 파일은 미완료 작업을 취소하고 새로 제출합니다.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새 제출 선택</a:t>
            </a:r>
          </a:p>
          <a:p xmlns:a="http://schemas.openxmlformats.org/drawingml/2006/main">
            <a:r>
              <a:t>이미 완료한 파일을 수정했다면 다른 파일 새로 제출을 누릅니다. 같은 과제를 선택하고 수정본 파일을 고릅니다.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새 버전 확인</a:t>
            </a:r>
          </a:p>
          <a:p xmlns:a="http://schemas.openxmlformats.org/drawingml/2006/main">
            <a:r>
              <a:t>제출 시작을 누른 뒤 새로운 제출번호와 버전 2를 확인합니다. 이전에 완료한 버전 1은 보존됩니다.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수정본을 기존 미완료 작업에 이어 붙이지 않습니다. 예시는 1주차_실습결과_수정본.txt를 새로 제출합니다.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이력 비교</a:t>
            </a:r>
          </a:p>
          <a:p xmlns:a="http://schemas.openxmlformats.org/drawingml/2006/main">
            <a:r>
              <a:t>완료된 제출 이력에서 버전 2와 버전 1을 확인합니다. 각 묶음의 파일 목록과 완료 시각을 비교할 수 있습니다.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필요한 파일 다운로드</a:t>
            </a:r>
          </a:p>
          <a:p xmlns:a="http://schemas.openxmlformats.org/drawingml/2006/main">
            <a:r>
              <a:t>원하는 버전의 다운로드를 누릅니다. 새 제출이 실패하더라도 이전 완료 제출은 계속 남아 있습니다.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이전 버전도 학생의 누적 저장 용량에 포함됩니다. 같은 파일명도 제출 버전마다 따로 보존합니다.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수업의 제출 현황</a:t>
            </a:r>
          </a:p>
          <a:p xmlns:a="http://schemas.openxmlformats.org/drawingml/2006/main">
            <a:r>
              <a:t>조회할 과제로 1주차 실습 과제를 선택합니다. 예시는 활성 3명 중 001만 두 번 제출한 상태입니다.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집계 해석</a:t>
            </a:r>
          </a:p>
          <a:p xmlns:a="http://schemas.openxmlformats.org/drawingml/2006/main">
            <a:r>
              <a:t>제출자는 1명, 미제출자는 2명입니다. 같은 학생이 여러 번 제출해도 제출자 수는 한 명으로 계산합니다.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관리자와 미완료 작업은 제출자 수에 포함하지 않습니다. 완료된 제출을 기준으로 확인합니다.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미제출자 조회</a:t>
            </a:r>
          </a:p>
          <a:p xmlns:a="http://schemas.openxmlformats.org/drawingml/2006/main">
            <a:r>
              <a:t>목록 필터에서 미제출자를 선택합니다. 예시에서는 002와 003에게 제출 여부를 확인하면 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그룹별 확인</a:t>
            </a:r>
          </a:p>
          <a:p xmlns:a="http://schemas.openxmlformats.org/drawingml/2006/main">
            <a:r>
              <a:t>그룹 정확히 일치에 A반을 입력하면 해당 그룹을 조회합니다. 비활성 계정 기록은 포함 옵션을 켜서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검색·그룹 조건이 적용된 현황과 전체 현황 CSV의 범위를 구분하세요.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완료 제출물 확인</a:t>
            </a:r>
          </a:p>
          <a:p xmlns:a="http://schemas.openxmlformats.org/drawingml/2006/main">
            <a:r>
              <a:t>원하는 제출번호를 펼쳐 파일명·용량·버전을 확인합니다. 다운로드 준비를 누른 뒤 파일 다운로드를 선택합니다.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CSV 내보내기</a:t>
            </a:r>
          </a:p>
          <a:p xmlns:a="http://schemas.openxmlformats.org/drawingml/2006/main">
            <a:r>
              <a:t>이 과제의 전체 현황 CSV 준비를 누르고 다운로드합니다. 이 파일은 화면 필터와 관계없이 해당 과제의 전체 현황입니다.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명단을 넣을 때는 TSV, 결과를 내보낼 때는 CSV를 사용합니다. 학생별 계정 정보를 포함한 파일은 관리자가 보관합니다.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항목별 확인</a:t>
            </a:r>
          </a:p>
          <a:p xmlns:a="http://schemas.openxmlformats.org/drawingml/2006/main">
            <a:r>
              <a:t>저장 공간·기록에서 완료 사용량, 예약 용량, 임시 파일 실사용량과 볼륨 잔여 공간을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공간 확보</a:t>
            </a:r>
          </a:p>
          <a:p xmlns:a="http://schemas.openxmlformats.org/drawingml/2006/main">
            <a:r>
              <a:t>학생이 불필요한 미완료 작업을 취소하게 하거나 서버 볼륨의 공간을 확보합니다. 한도 변경은 해당 서버를 중지한 뒤 진행합니다.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완료 제출 파일은 자동 삭제하지 않습니다. 데이터 폴더 안의 파일을 임의로 지우지 마세요.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오전반과 오후반</a:t>
            </a:r>
          </a:p>
          <a:p xmlns:a="http://schemas.openxmlformats.org/drawingml/2006/main">
            <a:r>
              <a:t>파이썬 기초 실습과 데이터 분석 오후반을 별도 과정으로 만듭니다. 각 과정의 ID·포트·저장 폴더를 다르게 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수업별 주소 안내</a:t>
            </a:r>
          </a:p>
          <a:p xmlns:a="http://schemas.openxmlformats.org/drawingml/2006/main">
            <a:r>
              <a:t>두 과정을 시작하고 각각의 URL을 안내합니다. 한 과정의 서버를 중지해도 다른 과정은 계속 실행됩니다.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계정과 제출물은 과정별로 분리됩니다. 같은 학생 ID가 있어도 다른 과정의 계정으로 자동 로그인되지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접수와 작업 마무리</a:t>
            </a:r>
          </a:p>
          <a:p xmlns:a="http://schemas.openxmlformats.org/drawingml/2006/main">
            <a:r>
              <a:t>과제 접수를 종료하고 진행 중인 학생의 완료를 기다리거나 중단 시간을 안내합니다. 제출 현황을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중지 상태 확인</a:t>
            </a:r>
          </a:p>
          <a:p xmlns:a="http://schemas.openxmlformats.org/drawingml/2006/main">
            <a:r>
              <a:t>서버 관리창에서 해당 과정을 선택하고 서버 중지를 누릅니다. 목록에서 중지 상태를 확인한 뒤 백업합니다.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관리창을 닫는 것만으로 서버가 중지되지 않습니다. 다음 수업에는 같은 과정을 다시 시작합니다.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1. 백업 시점</a:t>
            </a:r>
          </a:p>
          <a:p xmlns:a="http://schemas.openxmlformats.org/drawingml/2006/main">
            <a:r>
              <a:t>해당 과정의 서버가 중지된 뒤 복사합니다. 예: 2026-09-08 수업 종료 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2. 함께 복사</a:t>
            </a:r>
          </a:p>
          <a:p xmlns:a="http://schemas.openxmlformats.org/drawingml/2006/main">
            <a:r>
              <a:t>instances의 과정 설정 JSON과 설정에 지정한 storage_root 폴더 전체를 같은 시점으로 복사합니다.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3. 보관 예시</a:t>
            </a:r>
          </a:p>
          <a:p xmlns:a="http://schemas.openxmlformats.org/drawingml/2006/main">
            <a:r>
              <a:t>E:\AH_Backup\2026-09-08\ 아래에 config와 data 폴더를 만들어 보관합니다. 운영 데이터는 덮어쓰지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4. 포함할 정보</a:t>
            </a:r>
          </a:p>
          <a:p xmlns:a="http://schemas.openxmlformats.org/drawingml/2006/main">
            <a:r>
              <a:t>DB, 인증 비밀값, 제출물, 임시 파일과 로그를 함께 보관합니다. DB만 복사하면 파일과 이력을 온전히 복구할 수 없습니다.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정확한 설정 경로와 저장 폴더는 과정 설정에서 확인합니다. 백업에는 계정 정보가 있으므로 접근을 제한합니다.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1. 빈 위치에 복원</a:t>
            </a:r>
          </a:p>
          <a:p xmlns:a="http://schemas.openxmlformats.org/drawingml/2006/main">
            <a:r>
              <a:t>원본과 복원 대상 서버를 중지하고 별도 빈 폴더에 설정과 데이터 전체를 복원합니다.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2. 경로 확인</a:t>
            </a:r>
          </a:p>
          <a:p xmlns:a="http://schemas.openxmlformats.org/drawingml/2006/main">
            <a:r>
              <a:t>설정 JSON의 storage_root는 절대 경로입니다. 복원한 실제 폴더로 맞추고 안내 IP·포트를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3. 기존 설정 추가</a:t>
            </a:r>
          </a:p>
          <a:p xmlns:a="http://schemas.openxmlformats.org/drawingml/2006/main">
            <a:r>
              <a:t>관리창의 기존 설정 추가로 복원한 JSON을 선택합니다. 같은 과정 ID는 중복 등록하지 않도록 별도 배포 폴더를 사용합니다.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4. 접수 전 확인</a:t>
            </a:r>
          </a:p>
          <a:p xmlns:a="http://schemas.openxmlformats.org/drawingml/2006/main">
            <a:r>
              <a:t>서버를 시작해 로그인, 제출 목록, 대표 파일 다운로드를 확인합니다. 파일 크기·해시가 맞는지 확인한 뒤 접수를 엽니다.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이전 운영 서버와 복원 서버가 같은 저장 폴더를 동시에 사용하면 안 됩니다. 상세 절차는 관리자 운영 안내를 참고하세요.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서버 상태 점검</a:t>
            </a:r>
          </a:p>
          <a:p xmlns:a="http://schemas.openxmlformats.org/drawingml/2006/main">
            <a:r>
              <a:t>선택한 과정이 실행 중인지 확인하고 접속·오류 점검을 누릅니다. 안내 IP·포트와 로컬 응답 결과를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교육장 네트워크 확인</a:t>
            </a:r>
          </a:p>
          <a:p xmlns:a="http://schemas.openxmlformats.org/drawingml/2006/main">
            <a:r>
              <a:t>수강생에게 전달한 URL이 실제 서버 IP인지 확인합니다. 같은 네트워크인지, 해당 TCP 포트가 허용되는지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127.0.0.1과 localhost는 해당 PC 자체를 가리킵니다. 로컬 점검 성공만으로 다른 PC의 접속을 보장하지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로그인 실패</a:t>
            </a:r>
          </a:p>
          <a:p xmlns:a="http://schemas.openxmlformats.org/drawingml/2006/main">
            <a:r>
              <a:t>과정 주소, ID의 0과 대소문자를 확인합니다. 비밀번호를 잊었으면 관리자에게 초기화를 요청합니다.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이어 올리기 불가</a:t>
            </a:r>
          </a:p>
          <a:p xmlns:a="http://schemas.openxmlformats.org/drawingml/2006/main">
            <a:r>
              <a:t>같은 계정과 원본 파일인지 확인합니다. 취소하거나 기본 24시간 보관 기간이 지난 작업은 새로 제출합니다.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창이 좁은 경우</a:t>
            </a:r>
          </a:p>
          <a:p xmlns:a="http://schemas.openxmlformats.org/drawingml/2006/main">
            <a:r>
              <a:t>메뉴가 접혀 있으면 왼쪽 위에서 펼칩니다. 이어 올리기와 저장 공간은 아래로 스크롤하고, 표는 표 안에서 가로 이동합니다.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실행 파일 오류</a:t>
            </a:r>
          </a:p>
          <a:p xmlns:a="http://schemas.openxmlformats.org/drawingml/2006/main">
            <a:r>
              <a:t>배포 ZIP 전체를 새 폴더에 다시 풉니다. setup.bat와 logs/manager-startup.log로 오류 내용을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문의할 때 과정명·ID·제출번호·오류 문구를 전달합니다. 비밀번호나 연결 코드는 보내지 마세요.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접속 주소와 ID</a:t>
            </a:r>
          </a:p>
          <a:p xmlns:a="http://schemas.openxmlformats.org/drawingml/2006/main">
            <a:r>
              <a:t>교육장 서버 주소, 학생 본인의 ID와 임시비밀번호를 전달합니다. 첫 로그인 후 비밀번호를 변경합니다.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제출할 과제</a:t>
            </a:r>
          </a:p>
          <a:p xmlns:a="http://schemas.openxmlformats.org/drawingml/2006/main">
            <a:r>
              <a:t>정확한 과제 제목과 제출 파일 형식을 안내합니다. 엑셀 과제 파일도 제출할 수 있습니다.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완료 확인</a:t>
            </a:r>
          </a:p>
          <a:p xmlns:a="http://schemas.openxmlformats.org/drawingml/2006/main">
            <a:r>
              <a:t>파일 선택 후 제출 시작을 누르고 제출번호가 나올 때까지 기다립니다. 수정본은 새 제출로 등록합니다.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중단 시 행동</a:t>
            </a:r>
          </a:p>
          <a:p xmlns:a="http://schemas.openxmlformats.org/drawingml/2006/main">
            <a:r>
              <a:t>원본 파일을 그대로 두고 다시 로그인해 미완료 작업을 이어 올립니다. 내용이 바뀌었으면 새 제출로 시작합니다.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배포용 퀵가이드 2쪽에는 운영자용과 수강생용 절차를 각각 한 쪽에 정리했습니다.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84388d8687469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90a3c6583444460" /><Relationship Type="http://schemas.openxmlformats.org/officeDocument/2006/relationships/slideLayout" Target="/ppt/slideLayouts/slideLayout1.xml" Id="Rcc0f6133837f40a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c0f6133837f40a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aa9c417a4f431e" /><Relationship Type="http://schemas.openxmlformats.org/officeDocument/2006/relationships/notesSlide" Target="/ppt/notesSlides/notesSlide1.xml" Id="Rbe081fca04e74fe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b55385106e4d98" /><Relationship Type="http://schemas.openxmlformats.org/officeDocument/2006/relationships/notesSlide" Target="/ppt/notesSlides/notesSlide2.xml" Id="Rc6d43a03fab749c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5d37ef22a04d51" /><Relationship Type="http://schemas.openxmlformats.org/officeDocument/2006/relationships/image" Target="/ppt/media/image.png" Id="Rf889f5f623e1466d" /><Relationship Type="http://schemas.openxmlformats.org/officeDocument/2006/relationships/notesSlide" Target="/ppt/notesSlides/notesSlide3.xml" Id="R35fef065d02f466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b80186a02e42c8" /><Relationship Type="http://schemas.openxmlformats.org/officeDocument/2006/relationships/image" Target="/ppt/media/image2.png" Id="R093eff4130614faa" /><Relationship Type="http://schemas.openxmlformats.org/officeDocument/2006/relationships/notesSlide" Target="/ppt/notesSlides/notesSlide4.xml" Id="R4a02733b7829484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f7833cb20d485f" /><Relationship Type="http://schemas.openxmlformats.org/officeDocument/2006/relationships/image" Target="/ppt/media/image3.png" Id="R5c6b1ad68b6e4dcc" /><Relationship Type="http://schemas.openxmlformats.org/officeDocument/2006/relationships/notesSlide" Target="/ppt/notesSlides/notesSlide5.xml" Id="R6a5b4d011de7449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d7ae16e5204188" /><Relationship Type="http://schemas.openxmlformats.org/officeDocument/2006/relationships/image" Target="/ppt/media/image4.png" Id="R8f9bfe91a5ef4cfc" /><Relationship Type="http://schemas.openxmlformats.org/officeDocument/2006/relationships/notesSlide" Target="/ppt/notesSlides/notesSlide6.xml" Id="Rc3f596304b604e8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592d5341b14632" /><Relationship Type="http://schemas.openxmlformats.org/officeDocument/2006/relationships/image" Target="/ppt/media/image5.png" Id="R586a0a5ad1cf4eac" /><Relationship Type="http://schemas.openxmlformats.org/officeDocument/2006/relationships/notesSlide" Target="/ppt/notesSlides/notesSlide7.xml" Id="Re38d5a137c0e4bd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8d86957d6c4c1e" /><Relationship Type="http://schemas.openxmlformats.org/officeDocument/2006/relationships/image" Target="/ppt/media/image6.png" Id="R36fbe51f3953498d" /><Relationship Type="http://schemas.openxmlformats.org/officeDocument/2006/relationships/notesSlide" Target="/ppt/notesSlides/notesSlide8.xml" Id="R1a9abc42e3be44e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83fc1c408646e7" /><Relationship Type="http://schemas.openxmlformats.org/officeDocument/2006/relationships/image" Target="/ppt/media/image7.png" Id="R0b612cea12a14239" /><Relationship Type="http://schemas.openxmlformats.org/officeDocument/2006/relationships/notesSlide" Target="/ppt/notesSlides/notesSlide9.xml" Id="Rcfedc26a547145e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d544530f574277" /><Relationship Type="http://schemas.openxmlformats.org/officeDocument/2006/relationships/image" Target="/ppt/media/image8.png" Id="Rb6f55f393b994610" /><Relationship Type="http://schemas.openxmlformats.org/officeDocument/2006/relationships/notesSlide" Target="/ppt/notesSlides/notesSlide10.xml" Id="R76bc9f0e0cb64a9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2609c2e15b49d3" /><Relationship Type="http://schemas.openxmlformats.org/officeDocument/2006/relationships/image" Target="/ppt/media/image9.png" Id="R7099556a136d4933" /><Relationship Type="http://schemas.openxmlformats.org/officeDocument/2006/relationships/notesSlide" Target="/ppt/notesSlides/notesSlide11.xml" Id="R4cd696c1bb4a4a3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05078275be4153" /><Relationship Type="http://schemas.openxmlformats.org/officeDocument/2006/relationships/image" Target="/ppt/media/image10.png" Id="R44ed44ab2dba47de" /><Relationship Type="http://schemas.openxmlformats.org/officeDocument/2006/relationships/notesSlide" Target="/ppt/notesSlides/notesSlide12.xml" Id="R18c6dd1e5287484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53834838ba496b" /><Relationship Type="http://schemas.openxmlformats.org/officeDocument/2006/relationships/image" Target="/ppt/media/image11.png" Id="R036341dbfb74406a" /><Relationship Type="http://schemas.openxmlformats.org/officeDocument/2006/relationships/notesSlide" Target="/ppt/notesSlides/notesSlide13.xml" Id="R11d2270b8f544ea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665464d4d849f8" /><Relationship Type="http://schemas.openxmlformats.org/officeDocument/2006/relationships/image" Target="/ppt/media/image12.png" Id="R66f54abd7a8e41f2" /><Relationship Type="http://schemas.openxmlformats.org/officeDocument/2006/relationships/notesSlide" Target="/ppt/notesSlides/notesSlide14.xml" Id="Re0f7ecc9576e4b0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296d4317de4348" /><Relationship Type="http://schemas.openxmlformats.org/officeDocument/2006/relationships/image" Target="/ppt/media/image13.png" Id="Rfc7c974f129f40ba" /><Relationship Type="http://schemas.openxmlformats.org/officeDocument/2006/relationships/notesSlide" Target="/ppt/notesSlides/notesSlide15.xml" Id="R67f9020877754e7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bd5b7b07894333" /><Relationship Type="http://schemas.openxmlformats.org/officeDocument/2006/relationships/image" Target="/ppt/media/image14.png" Id="R1c4ccd8ab9524591" /><Relationship Type="http://schemas.openxmlformats.org/officeDocument/2006/relationships/notesSlide" Target="/ppt/notesSlides/notesSlide16.xml" Id="R52d80d32b97d422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b5de2b59ce4ab9" /><Relationship Type="http://schemas.openxmlformats.org/officeDocument/2006/relationships/image" Target="/ppt/media/image15.png" Id="Ra68cc6a51159447a" /><Relationship Type="http://schemas.openxmlformats.org/officeDocument/2006/relationships/notesSlide" Target="/ppt/notesSlides/notesSlide17.xml" Id="Rb89a35f445ad421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05d088bcbe4de5" /><Relationship Type="http://schemas.openxmlformats.org/officeDocument/2006/relationships/image" Target="/ppt/media/image16.png" Id="Rb9f383c6ee274c74" /><Relationship Type="http://schemas.openxmlformats.org/officeDocument/2006/relationships/notesSlide" Target="/ppt/notesSlides/notesSlide18.xml" Id="R180cec82d55b4c5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a6901a03034f5d" /><Relationship Type="http://schemas.openxmlformats.org/officeDocument/2006/relationships/image" Target="/ppt/media/image17.png" Id="Ra3b53f7d3bee4a22" /><Relationship Type="http://schemas.openxmlformats.org/officeDocument/2006/relationships/notesSlide" Target="/ppt/notesSlides/notesSlide19.xml" Id="Rf327b5bcb8ea4184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bf78a67ebb4a66" /><Relationship Type="http://schemas.openxmlformats.org/officeDocument/2006/relationships/image" Target="/ppt/media/image18.png" Id="R1fe9dba9880a49cc" /><Relationship Type="http://schemas.openxmlformats.org/officeDocument/2006/relationships/notesSlide" Target="/ppt/notesSlides/notesSlide20.xml" Id="Rfa55e6e518454c30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cdd368fda34c5e" /><Relationship Type="http://schemas.openxmlformats.org/officeDocument/2006/relationships/image" Target="/ppt/media/image19.png" Id="R75fddf64ade347db" /><Relationship Type="http://schemas.openxmlformats.org/officeDocument/2006/relationships/notesSlide" Target="/ppt/notesSlides/notesSlide21.xml" Id="R4562052c2d924d33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4ac770fb7346b3" /><Relationship Type="http://schemas.openxmlformats.org/officeDocument/2006/relationships/image" Target="/ppt/media/image20.png" Id="R2db539e50e5a48fc" /><Relationship Type="http://schemas.openxmlformats.org/officeDocument/2006/relationships/notesSlide" Target="/ppt/notesSlides/notesSlide22.xml" Id="R30305eeb886f44c1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ce6da5aad64219" /><Relationship Type="http://schemas.openxmlformats.org/officeDocument/2006/relationships/image" Target="/ppt/media/image21.png" Id="R7e47f37639614958" /><Relationship Type="http://schemas.openxmlformats.org/officeDocument/2006/relationships/notesSlide" Target="/ppt/notesSlides/notesSlide23.xml" Id="R83513c2e252640b4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7b27d8f9134bab" /><Relationship Type="http://schemas.openxmlformats.org/officeDocument/2006/relationships/image" Target="/ppt/media/image22.png" Id="Rfe087b6c036c4844" /><Relationship Type="http://schemas.openxmlformats.org/officeDocument/2006/relationships/notesSlide" Target="/ppt/notesSlides/notesSlide24.xml" Id="Rb1475f8e28d04736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c023a3f1bf4572" /><Relationship Type="http://schemas.openxmlformats.org/officeDocument/2006/relationships/image" Target="/ppt/media/image23.png" Id="Rfc7e35c8e9eb4e83" /><Relationship Type="http://schemas.openxmlformats.org/officeDocument/2006/relationships/notesSlide" Target="/ppt/notesSlides/notesSlide25.xml" Id="R827cf9e8053f4244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bd2cf76107408d" /><Relationship Type="http://schemas.openxmlformats.org/officeDocument/2006/relationships/image" Target="/ppt/media/image24.png" Id="R9d6a2b654ecb454e" /><Relationship Type="http://schemas.openxmlformats.org/officeDocument/2006/relationships/notesSlide" Target="/ppt/notesSlides/notesSlide26.xml" Id="R61efeb5ded0641e8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ec752f9b154e6e" /><Relationship Type="http://schemas.openxmlformats.org/officeDocument/2006/relationships/image" Target="/ppt/media/image25.png" Id="Rcf7a50c8385a4c97" /><Relationship Type="http://schemas.openxmlformats.org/officeDocument/2006/relationships/notesSlide" Target="/ppt/notesSlides/notesSlide27.xml" Id="Rc4805d7072cb41c6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004647994c44dd" /><Relationship Type="http://schemas.openxmlformats.org/officeDocument/2006/relationships/image" Target="/ppt/media/image26.png" Id="R9499e957c2714942" /><Relationship Type="http://schemas.openxmlformats.org/officeDocument/2006/relationships/notesSlide" Target="/ppt/notesSlides/notesSlide28.xml" Id="Rf529b3bfc5714a49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3fc91cb5f54e3b" /><Relationship Type="http://schemas.openxmlformats.org/officeDocument/2006/relationships/image" Target="/ppt/media/image27.png" Id="Rc03d0f9b4924417b" /><Relationship Type="http://schemas.openxmlformats.org/officeDocument/2006/relationships/notesSlide" Target="/ppt/notesSlides/notesSlide29.xml" Id="Rc57080d4ac2b4006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b7d2c036bf4c8a" /><Relationship Type="http://schemas.openxmlformats.org/officeDocument/2006/relationships/image" Target="/ppt/media/image28.png" Id="R587acac177074cda" /><Relationship Type="http://schemas.openxmlformats.org/officeDocument/2006/relationships/notesSlide" Target="/ppt/notesSlides/notesSlide30.xml" Id="R1177c263a2f6433b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bbffd00c164c7c" /><Relationship Type="http://schemas.openxmlformats.org/officeDocument/2006/relationships/notesSlide" Target="/ppt/notesSlides/notesSlide31.xml" Id="R5a8e644267a245cc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1c68fe34394284" /><Relationship Type="http://schemas.openxmlformats.org/officeDocument/2006/relationships/notesSlide" Target="/ppt/notesSlides/notesSlide32.xml" Id="Rc9b733c2760d4ece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23a2f1329b40d0" /><Relationship Type="http://schemas.openxmlformats.org/officeDocument/2006/relationships/image" Target="/ppt/media/image29.png" Id="R57d3bef029f940fd" /><Relationship Type="http://schemas.openxmlformats.org/officeDocument/2006/relationships/notesSlide" Target="/ppt/notesSlides/notesSlide33.xml" Id="Ref541e8faa254f7d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bd83e40b2842ab" /><Relationship Type="http://schemas.openxmlformats.org/officeDocument/2006/relationships/notesSlide" Target="/ppt/notesSlides/notesSlide34.xml" Id="R18179217df6746ee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e215b51a5d4153" /><Relationship Type="http://schemas.openxmlformats.org/officeDocument/2006/relationships/notesSlide" Target="/ppt/notesSlides/notesSlide35.xml" Id="R18f575a60e8645f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0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77622A-BE7D-4206-AF51-BD2DF3075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81200"/>
            <a:ext cx="13239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705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705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AssignmentHub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80D4A9-4ABC-4554-A6AD-C9B4A112B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67075"/>
            <a:ext cx="13049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5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5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시나리오별 사용자 매뉴얼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F87E8A-057A-4452-A416-E4FEFEEE2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76750"/>
            <a:ext cx="1285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0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무설치 실행과 TSV 명단 입력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7418E0-7317-4464-AA57-FD7B342F6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572250"/>
            <a:ext cx="1143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v1.2.0</a:t>
            </a:r>
          </a:p>
          <a:p xmlns:a="http://schemas.openxmlformats.org/drawingml/2006/main">
            <a:pPr>
              <a:defRPr sz="20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2026년 9월 8일</a:t>
            </a:r>
          </a:p>
        </p:txBody>
      </p:sp>
    </p:spTree>
    <p:extLst>
      <p:ext uri="{BB962C8B-B14F-4D97-AF65-F5344CB8AC3E}">
        <p14:creationId xmlns:p14="http://schemas.microsoft.com/office/powerpoint/2010/main" val="165482230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EDC016-CBF5-4E09-81C1-EE687FE3D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시나리오별 찾아보기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82CE0E-4409-455A-BEE1-1CF6D8198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48CD06-36FC-4808-8CBB-DB6FFB717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647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01. 처음 수업 준비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5FB3EF-A866-4603-B7F0-7A0FC75B9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647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운영자  /  3~7쪽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8C10AF-9F7A-42F8-B4EA-A4584C948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647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02. TSV 명단 등록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6A2D56-3CC8-4592-B1F3-F2434EC2B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647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운영자  /  8~11쪽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43F903-B961-477C-9372-FFC918027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647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03. 추가 등록·그룹 변경·초기화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CEAE43-AFC2-4B06-854D-A8E2AA391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647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운영자  /  12~13쪽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6C3BC8-2C8A-43EA-8935-086177CEB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647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04. 과제 생성과 접수 종료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4022F1-2A40-4A47-872C-9C895BB5C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91100"/>
            <a:ext cx="647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운영자  /  14~15쪽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8AD1A6-1AA5-4364-A6C5-4746CAB2C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05450"/>
            <a:ext cx="647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05. 첫 로그인과 제출 창 연결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01CF80-05BC-4AB5-9BE3-8685556CE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43600"/>
            <a:ext cx="647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수강생  /  16~18쪽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60B9E0-86E7-4CB9-830A-48D54A3CB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647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06. 여러 파일 제출과 완료 확인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05CA45-A6D4-4A5B-9DDD-1570AA9C8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96100"/>
            <a:ext cx="647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수강생  /  19~20쪽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B9ACAF-8096-4140-B738-ACA450092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695450"/>
            <a:ext cx="647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07. 중단 후 이어 올리기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32D61A-AD05-4195-ADEC-B6C996940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133600"/>
            <a:ext cx="647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수강생  /  21~22쪽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46F60B-F66E-43BB-A494-F962791B0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647950"/>
            <a:ext cx="647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08. 수정본 재제출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18983D-60C9-44B2-8C03-34BBF4893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086100"/>
            <a:ext cx="647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수강생  /  23~24쪽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001AAF-FEA7-4B3D-B2A8-547923AC1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600450"/>
            <a:ext cx="647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09. 미제출자·파일·용량 확인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EC2578-2443-433B-AF12-34CFF1E62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038600"/>
            <a:ext cx="647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운영자  /  25~28쪽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C95CC2-3D67-469B-99E8-F24F28B77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552950"/>
            <a:ext cx="647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10. 두 수업 동시 운영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ADA160-A7EB-46EA-8BB2-D9CBEE258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991100"/>
            <a:ext cx="647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운영자  /  29쪽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70E73A-1F88-420D-89AD-292DB3A4A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505450"/>
            <a:ext cx="647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11. 종료·백업·복원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537DBEE-EE00-45C8-8B5A-8E7532F40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943600"/>
            <a:ext cx="647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운영자  /  30~32쪽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284E4A5-25A7-4313-8EF1-DA920C168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6457950"/>
            <a:ext cx="647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12. 접속·로그인·전송 문제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411FCEF-0051-4FC9-B8A0-699ADE8A0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6896100"/>
            <a:ext cx="647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공통  /  33~34쪽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D40DFDC-E594-47B0-9BCF-EADC26DA2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운영자는 01~04부터, 수강생은 05~08부터 확인합니다. 빠른 안내는 별도 2쪽 퀵가이드를 사용하세요.</a:t>
            </a:r>
          </a:p>
        </p:txBody>
      </p:sp>
    </p:spTree>
    <p:extLst>
      <p:ext uri="{BB962C8B-B14F-4D97-AF65-F5344CB8AC3E}">
        <p14:creationId xmlns:p14="http://schemas.microsoft.com/office/powerpoint/2010/main" val="118555175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313E9C-45FD-42E6-B5CA-C70B503B8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01. 배포 ZIP과 첫 실행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18613A-2049-41F0-B90C-A69638851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8DA581-1D99-4F8E-AB42-066D19988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다운로드와 압축 해제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A3ACC8-3508-4A53-B883-70FB7436E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v1.2.0의 Windows x64 배포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ZIP 전체를 쓰기 가능한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폴더에 풉니다. Python과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라이브러리가 포함되어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있습니다.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78A324-DA30-4DD6-AFCC-486AB2FD4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관리창 실행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655395-651A-40C9-AEF9-933304EF2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폴더 안의 start.bat를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더블클릭합니다. 관리창이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열리면 새 과정 만들기를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선택합니다.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89f5f623e1466d"/>
          <a:stretch xmlns:a="http://schemas.openxmlformats.org/drawingml/2006/main"/>
        </p:blipFill>
        <p:spPr>
          <a:xfrm xmlns:a="http://schemas.openxmlformats.org/drawingml/2006/main">
            <a:off x="5152900" y="1476375"/>
            <a:ext cx="9029951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16F1CD-CDF2-41F0-BA33-9603B47B8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ZIP 내부에서 직접 실행하지 마세요. setup.bat는 선택적인 오프라인 점검이며 설치 도구가 아닙니다.</a:t>
            </a:r>
          </a:p>
        </p:txBody>
      </p:sp>
    </p:spTree>
    <p:extLst>
      <p:ext uri="{BB962C8B-B14F-4D97-AF65-F5344CB8AC3E}">
        <p14:creationId xmlns:p14="http://schemas.microsoft.com/office/powerpoint/2010/main" val="41040293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2900B5-A231-4342-A33C-13734899D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새 과정과 관리자 계정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2F06E7-1506-4A4D-8ECF-327BE2F52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2C018C-6C79-4EF9-9521-EFA01F0EC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수업 예시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4E4DB7-57DC-4442-91BB-08D0A59F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과정명은 파이썬 기초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실습으로 입력합니다. 안내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IP는 실제 서버 PC의 교육장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네트워크 주소를 선택합니다.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6C5DFF-25C7-471B-95EC-AC0E1BC43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저장 위치와 계정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365FFC-0557-426E-8265-75AFCE64D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과정 ID·포트·저장 폴더를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확인합니다. 관리자 ID와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12~128자의 비밀번호를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정하고 확인란에도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입력합니다.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3eff4130614faa"/>
          <a:stretch xmlns:a="http://schemas.openxmlformats.org/drawingml/2006/main"/>
        </p:blipFill>
        <p:spPr>
          <a:xfrm xmlns:a="http://schemas.openxmlformats.org/drawingml/2006/main">
            <a:off x="6630528" y="1476375"/>
            <a:ext cx="6074694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A898C6-FCD4-4808-B24B-639D28094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캡처의 127.0.0.1과 임시 경로는 예시입니다. 다른 PC에는 실제 서버의 IP와 포트를 안내합니다.</a:t>
            </a:r>
          </a:p>
        </p:txBody>
      </p:sp>
    </p:spTree>
    <p:extLst>
      <p:ext uri="{BB962C8B-B14F-4D97-AF65-F5344CB8AC3E}">
        <p14:creationId xmlns:p14="http://schemas.microsoft.com/office/powerpoint/2010/main" val="151409869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021B71-13B0-4693-95AA-0AD3CAD51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용량과 전송 설정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0C8DD2-8761-4D76-8F19-C20A30399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3B9B73-B8B1-43B9-B8A8-2609BD873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기본값 확인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066403-D3F2-40B3-996E-9DCA51ABA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파일당 2 GiB, 수강생별 누적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10 GiB, 디스크 최소 여유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5 GiB입니다. 한 번에 최대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10개 파일을 제출합니다.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486E47-9F8D-46BD-88A2-8E1AE65AC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과정 생성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1D9B85-C515-4BBA-9A02-9CDC35E68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용량·전송 설정을 확인한 뒤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과정 만들기를 누릅니다.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다음 수업부터는 저장된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과정을 선택하면 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6b1ad68b6e4dcc"/>
          <a:stretch xmlns:a="http://schemas.openxmlformats.org/drawingml/2006/main"/>
        </p:blipFill>
        <p:spPr>
          <a:xfrm xmlns:a="http://schemas.openxmlformats.org/drawingml/2006/main">
            <a:off x="6630528" y="1476375"/>
            <a:ext cx="6074694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0AD445-1066-4994-BDE9-30B5DD1A1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누적 사용량에는 다른 과제와 이전 제출 버전도 포함합니다. 기존 파일은 한도를 낮춰도 삭제되지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194508067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10DEB5-2E3A-4E90-9782-2AB804114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서버 시작과 주소 안내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61599B-5EDE-440D-B119-BA404F54B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A79576-3CF4-4127-8279-FCCC60BB9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실행 중 확인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0C04F3-6C3F-4AF7-AF46-CD8C5B2FC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과정을 선택하고 서버 시작을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누릅니다. 상태가 실행 중이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되면 관리자 화면 열기를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선택합니다.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E59B7F-5C49-4F62-AA29-17AF57EA0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수강생 접속 확인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DDA48D-34C9-4BC4-82EB-80FCDB176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주소 복사로 URL을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전달합니다. 예: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http://192.168.0.10:8501.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수강생 PC에서도 같은 주소가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열리는지 확인합니다.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9bfe91a5ef4cfc"/>
          <a:stretch xmlns:a="http://schemas.openxmlformats.org/drawingml/2006/main"/>
        </p:blipFill>
        <p:spPr>
          <a:xfrm xmlns:a="http://schemas.openxmlformats.org/drawingml/2006/main">
            <a:off x="5152900" y="1476375"/>
            <a:ext cx="9029951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9BADEE-A339-4D99-9E5F-01077F4B9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예시 IP를 그대로 쓰지 말고 실제 주소로 바꾸세요. 관리창을 닫아도 서버는 계속 실행됩니다.</a:t>
            </a:r>
          </a:p>
        </p:txBody>
      </p:sp>
    </p:spTree>
    <p:extLst>
      <p:ext uri="{BB962C8B-B14F-4D97-AF65-F5344CB8AC3E}">
        <p14:creationId xmlns:p14="http://schemas.microsoft.com/office/powerpoint/2010/main" val="122425619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3F6CAB-8D22-4817-A981-BCE6F2363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관리자의 수업 준비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6BA9F8-5B17-4392-97B4-E7AAD619A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FF72F1-FC24-4107-87F2-2D537B10C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관리자 로그인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F289E0-E226-4CCC-A0ED-6E7FC1F8B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과정을 만들 때 정한 관리자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계정으로 로그인합니다. 운영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안내에서 수강생 명단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등록으로 이동합니다.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1D7679-A7BC-4DC1-93D4-AF42869AC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준비 완료 기준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23BD11-7890-4FB2-AC6B-38A30CB81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명단이 등록되고 수업에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사용할 과제가 접수 중인지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확인합니다. 학생에게 접속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주소와 본인의 계정을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안내합니다.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6a0a5ad1cf4eac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7CF684-4833-4149-A742-EFC8CB19A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학생별 임시비밀번호를 전체 공지에 올리지 말고 해당 학생에게 전달합니다.</a:t>
            </a:r>
          </a:p>
        </p:txBody>
      </p:sp>
    </p:spTree>
    <p:extLst>
      <p:ext uri="{BB962C8B-B14F-4D97-AF65-F5344CB8AC3E}">
        <p14:creationId xmlns:p14="http://schemas.microsoft.com/office/powerpoint/2010/main" val="59237176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0EFB93-23C6-4669-9B80-09F756BA7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02. TSV 명단 붙여넣기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FF4E73-72BB-4D9E-9157-ADF4C1196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BFA8DB-7D07-4B17-B8AF-91B8F3240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첫 명단 예시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462C50-DE37-4D77-8985-F014BAC0F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user_id, name, group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헤더와 001 홍길동 A반, 002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김민수 B반을 탭으로 구분해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붙여넣습니다.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8493F9-2DDE-48ED-82E2-22FAB2658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미리보기와 반영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6454D7-1F6A-480E-A591-DECC0477C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명단 검증 및 미리보기를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누릅니다. 오류가 없고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ID·이름·그룹이 맞으면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검증된 명단 반영을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누릅니다.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fbe51f3953498d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627BE1-55D9-45A5-B77C-7717A9313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user_id와 name은 필수, group은 선택입니다. 엑셀에서 헤더를 포함한 셀 범위를 복사해도 됩니다.</a:t>
            </a:r>
          </a:p>
        </p:txBody>
      </p:sp>
    </p:spTree>
    <p:extLst>
      <p:ext uri="{BB962C8B-B14F-4D97-AF65-F5344CB8AC3E}">
        <p14:creationId xmlns:p14="http://schemas.microsoft.com/office/powerpoint/2010/main" val="194545719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CB71DF-6FC0-44C6-85A2-64A0ADE03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TSV 파일로 명단 등록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FF83F6-950C-4FE6-96C1-8B23CD371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BF9F80-3B71-49F8-8576-8329870BB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파일 작성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88F2E5-8F5C-4D18-94D2-413548967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명단 TSV 템플릿을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내려받거나 동봉한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01-first-roster.tsv를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수정합니다. ID는 001처럼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텍스트 그대로 작성합니다.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C67DE9-A3FC-4574-A51C-F65983991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파일 업로드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F16D96-DDFE-4B2F-B1E6-8DE5FCF87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TSV 파일 업로드를 선택하고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.tsv 또는 .txt 파일을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올립니다. 검증 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미리보기를 확인해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반영합니다.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612cea12a14239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89D6F5-6371-41BC-9D34-73E47D432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UTF-8 또는 BOM이 있는 UTF-16을 지원합니다. 최대 5 MiB, 10,000명, 30열입니다.</a:t>
            </a:r>
          </a:p>
        </p:txBody>
      </p:sp>
    </p:spTree>
    <p:extLst>
      <p:ext uri="{BB962C8B-B14F-4D97-AF65-F5344CB8AC3E}">
        <p14:creationId xmlns:p14="http://schemas.microsoft.com/office/powerpoint/2010/main" val="213492771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5A1855-F31D-45F4-8614-61A6150BC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중복 명단 오류 수정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00468D-0E7A-4F43-B837-821B178CC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B3145E-CC53-43C2-8229-EC2182E53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오류 예시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C21E8B-4006-4587-B020-7319E36D9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001을 서로 다른 두 사람에게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입력하면 중복 ID 오류가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표시됩니다. 검증된 명단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반영은 사용할 수 없습니다.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2E3A50-907A-4A29-8810-95E346E8C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수정 후 재검증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F22DAA-A35B-42CE-B837-B119BD098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두 번째 ID를 002로 고친 뒤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다시 검증합니다. 입력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내용이나 입력 방법이 바뀌면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이전 미리보기는 해제됩니다.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f55f393b994610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68DFCC-1B74-497A-BF8A-4813D7A0B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엑셀에서 이미 숫자로 바뀌어 사라진 0은 복원하지 않습니다. 001과 1은 서로 다른 계정입니다.</a:t>
            </a:r>
          </a:p>
        </p:txBody>
      </p:sp>
    </p:spTree>
    <p:extLst>
      <p:ext uri="{BB962C8B-B14F-4D97-AF65-F5344CB8AC3E}">
        <p14:creationId xmlns:p14="http://schemas.microsoft.com/office/powerpoint/2010/main" val="127598707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4312B9-1443-46C5-83FA-C4A84E912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임시비밀번호 전달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491ED0-0234-4CFC-8B72-51EE32776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378BAB-B274-4538-AA34-B9B56C28E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신규 계정 확인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4B90E9-69EA-4DBB-A049-077635731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반영 직후 신규 사용자의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임시비밀번호가 표시됩니다.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임시비밀번호 결과 CSV를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내려받아 학생별로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전달합니다.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3B8509-AB2D-468E-965F-ED4B0767E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결과 닫기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736B7B-8A6E-48E5-9C48-285D0F8DE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전달을 마치면 임시비밀번호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결과 닫기를 누릅니다. 화면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예시는 결과를 닫은 뒤의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사용자 목록입니다.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99556a136d4933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74EFE2-9342-479E-B4FE-BF1FB03A1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명단 입력은 TSV입니다. 비밀번호와 현황의 내보내기 파일은 CSV이며, 초기 비밀번호는 다시 조회할 수 없습니다.</a:t>
            </a:r>
          </a:p>
        </p:txBody>
      </p:sp>
    </p:spTree>
    <p:extLst>
      <p:ext uri="{BB962C8B-B14F-4D97-AF65-F5344CB8AC3E}">
        <p14:creationId xmlns:p14="http://schemas.microsoft.com/office/powerpoint/2010/main" val="113853360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48DBBB-E5B4-40E0-BAF0-91ACB3009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03. 추가 등록과 그룹 변경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ADAE77-EFA8-4B25-A71C-4BD7DA60A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3BF385-151D-4F8E-919D-594630784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변경 명단 예시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2FDBE7-3D4C-4080-96BE-68D204BB2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002 김민수를 B반에서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A반으로 옮기고, 003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이서연을 B반에 추가합니다.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두 행만 TSV로 입력해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검증합니다.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2A6D1D-9754-489F-A0E4-68D72AA56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기존 정보 갱신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96D4DF-AD9C-491B-887B-BA8DA98A4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기존 계정의 이름·그룹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변경도 적용 옵션을 선택하고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반영합니다. 신규 1명 등록과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기존 1명 변경을 확인합니다.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ed44ab2dba47de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555929-6FEA-487B-B894-F08BC3597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기존 비밀번호·활성 상태·제출은 유지합니다. 이번 TSV에 없는 기존 계정을 삭제하거나 비활성화하지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59926024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C0AFC1-C4FA-40BF-A39C-B2A676DDE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비밀번호를 잊은 수강생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D6E0A7-A634-421D-A38D-8FFAC78AA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AB4E96-E286-4B0F-B0B7-8B034590E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대상 확인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F8E896-41F3-451A-9094-E0627BB1B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사용자 관리에서 ID 002를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검색하고 관리할 수강생을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확인합니다. 기존 권한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무효화 안내에 체크합니다.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716C77-933D-46CD-9F53-D1F248BE2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초기화와 재로그인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F84FF6-8F67-4524-9D79-BF0362890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비밀번호 초기화를 눌러 새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임시비밀번호를 해당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학생에게 전달합니다. 학생은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새 비밀번호로 변경 후 다시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로그인합니다.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6341dbfb74406a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80833A-BD3A-49C1-A053-4AA245551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초기화는 기존 로그인·업로드 권한을 즉시 무효화합니다. 완료된 제출 파일과 이력은 유지합니다.</a:t>
            </a:r>
          </a:p>
        </p:txBody>
      </p:sp>
    </p:spTree>
    <p:extLst>
      <p:ext uri="{BB962C8B-B14F-4D97-AF65-F5344CB8AC3E}">
        <p14:creationId xmlns:p14="http://schemas.microsoft.com/office/powerpoint/2010/main" val="141308656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CADB1E-ABB9-460D-8F88-DBB3C23DC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04. 과제 생성과 접수 시작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5BAE45-A8B3-4FFE-BE07-A5E807895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48A13D-AB4F-4F4D-84D0-091F9B491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과제 작성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09498A-869C-4B3D-873F-364DE0DEA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과제 관리에서 새 과제 추가를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펼칩니다. 제목은 1주차 실습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과제, 설명에는 제출할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파일과 수정본 처리 방법을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적습니다.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B0E81E-8240-4CF4-8888-CB310A812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접수 시작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453BEE-F7C8-497C-B69A-2A9ABDA3C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즉시 접수 시작을 확인하고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과제 추가를 누릅니다.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학생에게 여러 과제 중 선택할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정확한 제목을 안내합니다.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f54abd7a8e41f2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5EECF6-32F1-471A-A63E-5D65D8F7E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처음 생성된 기본 과제를 수정해 사용해도 됩니다. 여기서는 별도 과제를 추가하는 상황입니다.</a:t>
            </a:r>
          </a:p>
        </p:txBody>
      </p:sp>
    </p:spTree>
    <p:extLst>
      <p:ext uri="{BB962C8B-B14F-4D97-AF65-F5344CB8AC3E}">
        <p14:creationId xmlns:p14="http://schemas.microsoft.com/office/powerpoint/2010/main" val="15515340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B8FB12-4083-436A-835F-E3B665235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과제 접수 종료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C0BB23-6AEE-4CD0-82BD-08F1F16D1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44483C-5E83-4D5F-B517-2BAA64E77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마감 예시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B3F10B-96B6-4817-A2E7-C5724C81E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수업 종료 시 과제 관리에서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1주차 실습 과제를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선택합니다. 접수 중을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해제하고 변경 사항 저장을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누릅니다.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3441C1-D96E-4F18-8479-2695CBB0A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종료의 범위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3841B3-2EE2-4F58-B23B-61F4EFB2B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이후 신규 제출 시작을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막습니다. 종료 전에 시작한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유효한 업로드는 보관 시간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내에 완료할 수 있습니다.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7c974f129f40ba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0229BB-A50D-4496-A19B-80B9E20A9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즉시 모든 전송을 멈춰야 한다면 학생에게 안내하고 서버를 중지합니다. 접수 종료만으로 기존 전송을 끊지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17141547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9D590A-CB78-4E9D-8586-A8ED6FC18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05. 학생의 첫 로그인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E73670-53AA-417A-9C9D-EBD1C1DD1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7F0BBF-E2A2-4302-B255-F066DF273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받은 계정 입력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2E89AF-7A6C-43F8-B64C-AAD25FFCA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서버 주소를 열고 ID 001과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본인의 임시비밀번호로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로그인합니다. ID의 앞자리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0과 대소문자를 그대로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입력합니다.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A9892E-DD60-4387-AB34-FCA87AB68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비밀번호 변경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FA96AA-68DA-41DE-A850-95D955735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현재 임시비밀번호와 새로운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12~128자 비밀번호를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입력합니다. 변경을 마치고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새 비밀번호로 다시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로그인합니다.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4ccd8ab9524591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8DB50E-DC02-423D-80AB-718C38BAC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첫 비밀번호 변경을 마쳐야 과제를 조회하고 파일을 제출할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42310280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BBB7CC-A49A-4806-A7E2-60E54C225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파일 제출 화면 연결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171457-6CF3-4DDF-ABD3-A81D45F1A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F3F324-D767-4F28-A7E1-C126190EF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연결 코드 사용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D5272B-35AA-4765-99DE-86B9D8D7C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일회용 연결 코드 발급을 눌러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코드를 복사합니다. 파일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제출·이어 올리기 화면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열기로 제출 창을 엽니다.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BB8227-8DED-4395-A49E-DA5DC8288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접속 계정 확인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98DDF1-28EB-4F2A-B012-166AF62C6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제출 창에서 코드로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연결합니다. 연결 후 표시된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ID가 본인의 ID인지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8cc6a51159447a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589939-81CC-474E-90E9-A514E3CA5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코드는 짧은 시간 동안 한 번만 사용합니다. 예시 화면의 코드 영역은 가렸습니다.</a:t>
            </a:r>
          </a:p>
        </p:txBody>
      </p:sp>
    </p:spTree>
    <p:extLst>
      <p:ext uri="{BB962C8B-B14F-4D97-AF65-F5344CB8AC3E}">
        <p14:creationId xmlns:p14="http://schemas.microsoft.com/office/powerpoint/2010/main" val="210692948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CBD2A3-3AB8-4B33-9B7E-B20C472B9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제출 창에서 직접 로그인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381EBF-5F87-4CDC-9CEB-FB1532AC0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E5EC8C-7C98-451B-B38B-66A31B689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코드가 만료된 경우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71EF05-E666-4249-95F7-13D840036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새 연결 코드를 받거나 제출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창의 ID와 비밀번호로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로그인합니다. 비밀번호는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처음 변경한 새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비밀번호입니다.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DC8DE8-874F-434E-B515-8B97617A7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다시 연 창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A1EA0A-39A8-4F22-A961-269B6F1BC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새로고침이나 브라우저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재실행 후에도 본인 계정으로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로그인할 수 있습니다. 이어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올릴 작업은 로그인 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선택합니다.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f383c6ee274c74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D07815-1ED3-41F9-8AFA-353B4312B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다른 사람의 계정으로 제출하면 그 계정의 이력에 남습니다. 본인 계정과 과제명을 확인하세요.</a:t>
            </a:r>
          </a:p>
        </p:txBody>
      </p:sp>
    </p:spTree>
    <p:extLst>
      <p:ext uri="{BB962C8B-B14F-4D97-AF65-F5344CB8AC3E}">
        <p14:creationId xmlns:p14="http://schemas.microsoft.com/office/powerpoint/2010/main" val="212132087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28AC0B-DDDE-47D4-AE30-EC3A06D25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06. 여러 파일을 한 번에 제출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439083-8F98-4293-8268-AF343A414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48FD84-A943-4406-AC00-DC3FA90DE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파일 선택 예시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35E758-04C7-485A-A717-A169A895F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1주차 실습 과제를 선택하고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1주차_실습결과.txt와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제출_설명.txt를 함께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선택합니다. PC에서는 끌어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놓기도 가능합니다.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180FC0-3814-4FF1-A41E-4D6381C6D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전송 시작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E34C48-15AE-4572-89EA-A9C1D54B1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파일명·개수·총용량과 내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저장 공간을 확인합니다.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제출 시작을 누르고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전송·검증·저장 상태를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기다립니다.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b53f7d3bee4a22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10DC69-32EB-42A6-95AE-643DEF555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파일 선택만으로 전송되지 않습니다. 여러 파일은 하나의 묶음으로, 모두 끝나야 완료 제출로 집계됩니다.</a:t>
            </a:r>
          </a:p>
        </p:txBody>
      </p:sp>
    </p:spTree>
    <p:extLst>
      <p:ext uri="{BB962C8B-B14F-4D97-AF65-F5344CB8AC3E}">
        <p14:creationId xmlns:p14="http://schemas.microsoft.com/office/powerpoint/2010/main" val="127059342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A36617-F19F-4FFB-AF30-25D149B27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제출 완료와 제출번호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1A5DD7-B3F5-4EF4-8C7E-433F6F5E1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B716EE-5183-4F2E-A4F5-CA502CD6B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완료 기준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5FB93E-2261-4565-8CAB-7FFB2FDB2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제출이 완료되었습니다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안내와 제출번호가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나타나는지 확인합니다. 100%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진행률만으로 제출 완료를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판단하지 않습니다.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4EF06A-878C-49B6-923D-B7434FF5B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내역 확인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CACB3F-4128-4A39-BBDD-79F1124EE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과제명, ID, 파일 목록,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버전과 서버 완료 시각을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확인합니다. 문의할 때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제출번호를 함께 알려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주세요.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e9dba9880a49cc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5E191E-536F-4F69-A5D1-53B5EA2F1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제출 이력에서 파일을 다운로드해 서버에 저장된 내용을 확인할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403367884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73014D-2026-4EE4-A92C-A62C83E65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07. 전송 도중 연결이 끊긴 경우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C6E8CA-F7E0-4941-BFD3-48FFE01EC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A959F8-F980-485A-B20C-783A7368E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중단 상황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D91520-7233-4042-8253-4E5127791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예시는 첫 파일의 일부가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서버에 저장된 뒤 전송이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중단된 상태입니다. 원본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파일을 수정하지 않고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보관합니다.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AC04D1-1726-4F4A-A991-0B158CA4A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같은 창에서 재시도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2CD3D3-3828-46EF-84D8-5614FACF2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네트워크가 복구되면 다시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시도를 누릅니다. 계속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실패하면 관리자에게 접속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상태와 남은 공간을 확인해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달라고 요청합니다.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fddf64ade347db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CD7E0A-234E-4554-BECF-E581F3851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서버가 확정한 수신량부터 이어 올립니다. 완료 전의 작업은 제출자 수에 포함되지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423728642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D07188-52B0-43FE-89BD-EF412908D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새로고침 후 이어 올리기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2EDC74-F724-49F9-9122-C215A6AFB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A36150-7B2E-40D5-8E9E-BE3F3B931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미완료 작업 선택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E15386-2A40-4FD0-BCD0-EA659D85D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다시 로그인하고 이어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올리기에서 이 작업 이어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올리기를 누릅니다. 좁은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화면에서는 아래로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스크롤합니다.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CA30B3-956D-47B5-B662-893E66DCE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동일 원본 다시 선택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302D58-9DAB-46ED-BD19-91FDE5E2D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처음의 두 파일을 모두 다시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선택하고 확인 후 이어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올리기를 누릅니다. 서버가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확인한 지점부터 전송을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계속합니다.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b539e50e5a48fc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CA67E6-0FB4-4F24-9C3F-526C93573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이름·크기·내용이 같은 원본이어야 합니다. 수정한 파일은 미완료 작업을 취소하고 새로 제출합니다.</a:t>
            </a:r>
          </a:p>
        </p:txBody>
      </p:sp>
    </p:spTree>
    <p:extLst>
      <p:ext uri="{BB962C8B-B14F-4D97-AF65-F5344CB8AC3E}">
        <p14:creationId xmlns:p14="http://schemas.microsoft.com/office/powerpoint/2010/main" val="294893494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4FF03A-F6D6-42C6-AEEA-200DF3977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08. 제출한 파일의 수정본 등록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2EA46F-D3FF-4EFC-B8DF-6EB66992F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0F515F-5E5C-431D-8605-CA31E21DC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새 제출 선택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F3B4F7-2E5D-4EE6-AE65-39C2C8E50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이미 완료한 파일을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수정했다면 다른 파일 새로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제출을 누릅니다. 같은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과제를 선택하고 수정본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파일을 고릅니다.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4541AE-E538-44E6-A344-75CD2879F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새 버전 확인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01EAD8-2331-4E21-BE57-C4CBBE715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제출 시작을 누른 뒤 새로운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제출번호와 버전 2를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확인합니다. 이전에 완료한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버전 1은 보존됩니다.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47f37639614958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34ECAC-F38F-4A73-ADA5-1F2E82FEB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수정본을 기존 미완료 작업에 이어 붙이지 않습니다. 예시는 1주차_실습결과_수정본.txt를 새로 제출합니다.</a:t>
            </a:r>
          </a:p>
        </p:txBody>
      </p:sp>
    </p:spTree>
    <p:extLst>
      <p:ext uri="{BB962C8B-B14F-4D97-AF65-F5344CB8AC3E}">
        <p14:creationId xmlns:p14="http://schemas.microsoft.com/office/powerpoint/2010/main" val="521325615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C87F60-360F-40AC-91DF-89F8DDD79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최신 파일과 이전 버전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4CFE2D-4CF7-4DE7-8E02-FA0507DD2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24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6B7458-6669-452F-AE8E-3C1D78D07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이력 비교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2664E1-90D7-4DD2-95F4-3B32BDF94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완료된 제출 이력에서 버전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2와 버전 1을 확인합니다. 각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묶음의 파일 목록과 완료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시각을 비교할 수 있습니다.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68548C-D5AE-4530-BE94-58778171A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필요한 파일 다운로드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3BA7C1-5A20-4C5E-8F94-D337CA861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원하는 버전의 다운로드를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누릅니다. 새 제출이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실패하더라도 이전 완료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제출은 계속 남아 있습니다.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087b6c036c4844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0E3C33-83A7-4ABB-9A36-9F40B29AE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이전 버전도 학생의 누적 저장 용량에 포함됩니다. 같은 파일명도 제출 버전마다 따로 보존합니다.</a:t>
            </a:r>
          </a:p>
        </p:txBody>
      </p:sp>
    </p:spTree>
    <p:extLst>
      <p:ext uri="{BB962C8B-B14F-4D97-AF65-F5344CB8AC3E}">
        <p14:creationId xmlns:p14="http://schemas.microsoft.com/office/powerpoint/2010/main" val="482496036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3AB4FF-6C8F-42AF-A5CB-90177FDBE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09. 관리자 제출 현황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239D99-B243-4D86-BFC8-DADAC5308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A0FC58-B7B5-4FE7-9DCF-03513F66D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수업의 제출 현황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A3E5F1-53F2-4107-A4B0-E6AB421FD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조회할 과제로 1주차 실습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과제를 선택합니다. 예시는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활성 3명 중 001만 두 번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제출한 상태입니다.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3D7355-7C51-4859-9158-0FFB2FD94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집계 해석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BB2E7D-EBBE-4ABA-8440-7D9D1736D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제출자는 1명, 미제출자는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2명입니다. 같은 학생이 여러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번 제출해도 제출자 수는 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명으로 계산합니다.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7e35c8e9eb4e83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CF8A45-0E51-4F59-8C0E-33FC809CB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관리자와 미완료 작업은 제출자 수에 포함하지 않습니다. 완료된 제출을 기준으로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459515953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668FEB-88B3-46AE-8B11-E399234EA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미제출자와 그룹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9462AD-AB5B-4A8F-A51E-965801825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9F3EB8-C7F1-4002-A3F9-910C050BF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미제출자 조회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E7228E-B38D-435F-A595-5215D511D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목록 필터에서 미제출자를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선택합니다. 예시에서는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002와 003에게 제출 여부를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확인하면 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F9A7B5-6950-4DEF-9B53-AC356028D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그룹별 확인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ADE9F1-E7D4-4C95-B297-C9DE8CDA8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그룹 정확히 일치에 A반을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입력하면 해당 그룹을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조회합니다. 비활성 계정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기록은 포함 옵션을 켜서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6a2b654ecb454e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D9F9B7-2517-47F9-9E2B-308C71744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검색·그룹 조건이 적용된 현황과 전체 현황 CSV의 범위를 구분하세요.</a:t>
            </a:r>
          </a:p>
        </p:txBody>
      </p:sp>
    </p:spTree>
    <p:extLst>
      <p:ext uri="{BB962C8B-B14F-4D97-AF65-F5344CB8AC3E}">
        <p14:creationId xmlns:p14="http://schemas.microsoft.com/office/powerpoint/2010/main" val="198506776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539F2F-1258-441A-A298-E19AF8B05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파일 확인과 현황 내보내기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F18D45-23CC-496C-8A83-5F8B979EB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27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152FEE-51FF-45BF-9F0F-BCAD30D96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완료 제출물 확인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0DB746-EE24-41C0-9947-0EF00463A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원하는 제출번호를 펼쳐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파일명·용량·버전을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확인합니다. 다운로드 준비를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누른 뒤 파일 다운로드를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선택합니다.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E9CCD8-2873-4827-9D80-0DDE06198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CSV 내보내기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F3D58D-1D22-41BF-A9A1-27B363FA5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이 과제의 전체 현황 CSV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준비를 누르고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다운로드합니다. 이 파일은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화면 필터와 관계없이 해당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과제의 전체 현황입니다.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7a50c8385a4c97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FA302A-4377-4BBD-86FC-2C9796B86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명단을 넣을 때는 TSV, 결과를 내보낼 때는 CSV를 사용합니다. 학생별 계정 정보를 포함한 파일은 관리자가 보관합니다.</a:t>
            </a:r>
          </a:p>
        </p:txBody>
      </p:sp>
    </p:spTree>
    <p:extLst>
      <p:ext uri="{BB962C8B-B14F-4D97-AF65-F5344CB8AC3E}">
        <p14:creationId xmlns:p14="http://schemas.microsoft.com/office/powerpoint/2010/main" val="620121448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285CAF-B6D3-48AB-88AE-EA1EBF009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저장 공간이 부족한 경우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F56537-2F21-4E2F-8810-49DA20157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28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9E4376-DA8B-4686-B2C5-986557D8B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항목별 확인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B6F073-0B89-4F38-8E28-BC0B39EC6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저장 공간·기록에서 완료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사용량, 예약 용량, 임시 파일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실사용량과 볼륨 잔여 공간을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E8B10B-8C5E-45F0-AE4F-E65FA544F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공간 확보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5EE411-36E0-4180-896D-720CC8664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학생이 불필요한 미완료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작업을 취소하게 하거나 서버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볼륨의 공간을 확보합니다.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한도 변경은 해당 서버를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중지한 뒤 진행합니다.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99e957c2714942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A89DFE-A082-41ED-85CF-63F91B8A6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완료 제출 파일은 자동 삭제하지 않습니다. 데이터 폴더 안의 파일을 임의로 지우지 마세요.</a:t>
            </a:r>
          </a:p>
        </p:txBody>
      </p:sp>
    </p:spTree>
    <p:extLst>
      <p:ext uri="{BB962C8B-B14F-4D97-AF65-F5344CB8AC3E}">
        <p14:creationId xmlns:p14="http://schemas.microsoft.com/office/powerpoint/2010/main" val="1822267526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E5A0EE-080D-46DA-8BED-C54BB9ADE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10. 두 수업을 동시에 운영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41399F-38A6-4C95-81DD-3D8FD98DD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29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5C058A-D989-43A4-AEBA-DFD7A93E6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오전반과 오후반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443678-8C06-4502-AD16-35468F06C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파이썬 기초 실습과 데이터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분석 오후반을 별도 과정으로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만듭니다. 각 과정의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ID·포트·저장 폴더를 다르게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정합니다.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7C7A39-14B8-409F-A117-33E562A53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수업별 주소 안내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8CACB4-9B40-4845-95BB-A7E947B10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두 과정을 시작하고 각각의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URL을 안내합니다. 한 과정의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서버를 중지해도 다른 과정은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계속 실행됩니다.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3d0f9b4924417b"/>
          <a:stretch xmlns:a="http://schemas.openxmlformats.org/drawingml/2006/main"/>
        </p:blipFill>
        <p:spPr>
          <a:xfrm xmlns:a="http://schemas.openxmlformats.org/drawingml/2006/main">
            <a:off x="5152900" y="1476375"/>
            <a:ext cx="9029951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8A24AD-BFBE-4DB5-9103-D8D5DEFC7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계정과 제출물은 과정별로 분리됩니다. 같은 학생 ID가 있어도 다른 과정의 계정으로 자동 로그인되지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1063263725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96508E-655B-4DC7-92D0-61460C2DE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11. 수업 종료와 서버 중지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A0751D-9289-409C-B49C-34F4F7C3D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30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8AFAD7-834D-4B34-9145-7045E6B69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접수와 작업 마무리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CAFC98-351F-4479-BF54-F930D4F82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과제 접수를 종료하고 진행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중인 학생의 완료를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기다리거나 중단 시간을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안내합니다. 제출 현황을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5CCC96-E25A-4243-A770-772F85176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중지 상태 확인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A017DC-53C3-4085-8A86-D250C126A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서버 관리창에서 해당 과정을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선택하고 서버 중지를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누릅니다. 목록에서 중지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상태를 확인한 뒤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백업합니다.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7acac177074cda"/>
          <a:stretch xmlns:a="http://schemas.openxmlformats.org/drawingml/2006/main"/>
        </p:blipFill>
        <p:spPr>
          <a:xfrm xmlns:a="http://schemas.openxmlformats.org/drawingml/2006/main">
            <a:off x="5152900" y="1476375"/>
            <a:ext cx="9029951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A93BD4-4592-4422-89EA-858830A92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관리창을 닫는 것만으로 서버가 중지되지 않습니다. 다음 수업에는 같은 과정을 다시 시작합니다.</a:t>
            </a:r>
          </a:p>
        </p:txBody>
      </p:sp>
    </p:spTree>
    <p:extLst>
      <p:ext uri="{BB962C8B-B14F-4D97-AF65-F5344CB8AC3E}">
        <p14:creationId xmlns:p14="http://schemas.microsoft.com/office/powerpoint/2010/main" val="1844747899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7E82EE-01C2-4541-8A7E-A9E980369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설정과 데이터의 백업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83A0EB-43FE-4414-B770-84888BF70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31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E0FDA8-301B-4D20-86F2-08537E3F0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657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1. 백업 시점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35D77A-136F-4896-8548-2734252DD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62225"/>
            <a:ext cx="6286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해당 과정의 서버가 중지된 뒤 복사합니다.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예: 2026-09-08 수업 종료 후.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BA5F65-B0F0-46F3-A981-0F0FDF5EB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828800"/>
            <a:ext cx="657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2. 함께 복사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CA7DB4-7D40-4B63-8166-735076027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562225"/>
            <a:ext cx="6286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instances의 과정 설정 JSON과 설정에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지정한 storage_root 폴더 전체를 같은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시점으로 복사합니다.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B1644C-B740-4C12-9FC4-B89481B9F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9625"/>
            <a:ext cx="657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3. 보관 예시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E184FC-88DA-4A4F-837F-62D7DFDF7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6286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E:\AH_Backup\2026-09-08\ 아래에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config와 data 폴더를 만들어 보관합니다.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운영 데이터는 덮어쓰지 않습니다.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9570CD-2407-4A37-8727-80E2924AC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619625"/>
            <a:ext cx="657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4. 포함할 정보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6A9F8A-FE64-415B-9385-DE5960699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353050"/>
            <a:ext cx="6286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DB, 인증 비밀값, 제출물, 임시 파일과 로그를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함께 보관합니다. DB만 복사하면 파일과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이력을 온전히 복구할 수 없습니다.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794B88-1254-43C5-BECC-5F55D23F6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39075"/>
            <a:ext cx="13239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정확한 설정 경로와 저장 폴더는 과정 설정에서 확인합니다. 백업에는 계정 정보가 있으므로 접근을 제한합니다.</a:t>
            </a:r>
          </a:p>
        </p:txBody>
      </p:sp>
    </p:spTree>
    <p:extLst>
      <p:ext uri="{BB962C8B-B14F-4D97-AF65-F5344CB8AC3E}">
        <p14:creationId xmlns:p14="http://schemas.microsoft.com/office/powerpoint/2010/main" val="1423759115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3A11D3-AA31-4217-A140-CFCEE6E74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별도 폴더로 복원하는 경우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80F644-AF6F-4AAD-9623-E99D72B96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32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1CBF1E-954C-49A7-BBF6-C20B7BB85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657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1. 빈 위치에 복원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453FA1-C89B-4F6B-89B4-ABA17C14B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62225"/>
            <a:ext cx="6286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원본과 복원 대상 서버를 중지하고 별도 빈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폴더에 설정과 데이터 전체를 복원합니다.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7E5650-5145-47EF-8764-9D93802DF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828800"/>
            <a:ext cx="657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2. 경로 확인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EE0981-1DD3-4F11-959A-21D138DBC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562225"/>
            <a:ext cx="6286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설정 JSON의 storage_root는 절대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경로입니다. 복원한 실제 폴더로 맞추고 안내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IP·포트를 확인합니다.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E47F03-90B9-4B9A-9419-E3F9768B4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9625"/>
            <a:ext cx="657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3. 기존 설정 추가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397B14-D608-42F6-A6B4-B19FCBE70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6286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관리창의 기존 설정 추가로 복원한 JSON을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선택합니다. 같은 과정 ID는 중복 등록하지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않도록 별도 배포 폴더를 사용합니다.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3DF4B7-ACAE-4E83-976A-CEBC8059A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619625"/>
            <a:ext cx="657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4. 접수 전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15C682-F354-4BE2-963A-EF40A625A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353050"/>
            <a:ext cx="6286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서버를 시작해 로그인, 제출 목록, 대표 파일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다운로드를 확인합니다. 파일 크기·해시가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맞는지 확인한 뒤 접수를 엽니다.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6D219C-6D8B-4CA1-98B5-88BB3EC77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39075"/>
            <a:ext cx="13239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이전 운영 서버와 복원 서버가 같은 저장 폴더를 동시에 사용하면 안 됩니다. 상세 절차는 관리자 운영 안내를 참고하세요.</a:t>
            </a:r>
          </a:p>
        </p:txBody>
      </p:sp>
    </p:spTree>
    <p:extLst>
      <p:ext uri="{BB962C8B-B14F-4D97-AF65-F5344CB8AC3E}">
        <p14:creationId xmlns:p14="http://schemas.microsoft.com/office/powerpoint/2010/main" val="388029531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2C378B-FF07-4A05-A707-52DFB8BFE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12. 다른 PC에서 접속이 안 되는 경우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705586-2F1A-47AB-97FF-EF0CFDB08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33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E39B5D-9B48-4425-80FB-8408E6649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서버 상태 점검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882F38-32E8-4CD0-BBAF-7D4348729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선택한 과정이 실행 중인지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확인하고 접속·오류 점검을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누릅니다. 안내 IP·포트와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로컬 응답 결과를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506D5A-73B8-4551-BD24-B2CDD1A96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교육장 네트워크 확인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E63810-BE04-4323-BDF5-BCB64847A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수강생에게 전달한 URL이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실제 서버 IP인지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확인합니다. 같은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네트워크인지, 해당 TCP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포트가 허용되는지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d3bef029f940fd"/>
          <a:stretch xmlns:a="http://schemas.openxmlformats.org/drawingml/2006/main"/>
        </p:blipFill>
        <p:spPr>
          <a:xfrm xmlns:a="http://schemas.openxmlformats.org/drawingml/2006/main">
            <a:off x="5130511" y="1476375"/>
            <a:ext cx="907472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235C0F-939E-4CBB-946E-438FE2B9D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127.0.0.1과 localhost는 해당 PC 자체를 가리킵니다. 로컬 점검 성공만으로 다른 PC의 접속을 보장하지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152801173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1E569E-1D87-4768-9565-1905DCDE0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로그인·전송 문제의 확인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17A513-F1EB-45CE-B23E-A0B9DA324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34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0B3827-90F2-4843-918D-A6FCCEDBA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657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로그인 실패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731111-6818-4A43-938D-90EBF90E4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62225"/>
            <a:ext cx="6286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과정 주소, ID의 0과 대소문자를 확인합니다.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비밀번호를 잊었으면 관리자에게 초기화를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요청합니다.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DCD33B-A5BA-463A-873E-6C93BAA58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828800"/>
            <a:ext cx="657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이어 올리기 불가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A5C9D4-C628-4427-A101-F4340ED5E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562225"/>
            <a:ext cx="6286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같은 계정과 원본 파일인지 확인합니다.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취소하거나 기본 24시간 보관 기간이 지난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작업은 새로 제출합니다.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3FED68-3052-4E3D-AB32-65BD27492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9625"/>
            <a:ext cx="657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창이 좁은 경우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D405E7-86B0-42AB-A1D0-172D2FB2C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6286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메뉴가 접혀 있으면 왼쪽 위에서 펼칩니다.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이어 올리기와 저장 공간은 아래로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스크롤하고, 표는 표 안에서 가로 이동합니다.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D88933-72AB-4DDE-9885-B64DCF5C9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619625"/>
            <a:ext cx="657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실행 파일 오류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148C18-7EA7-4C83-AFD6-02A6337EC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353050"/>
            <a:ext cx="6286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배포 ZIP 전체를 새 폴더에 다시 풉니다.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setup.bat와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logs/manager-startup.log로 오류 내용을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확인합니다.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E28B47-E5A9-4DEA-8C94-95DE5DE64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39075"/>
            <a:ext cx="13239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문의할 때 과정명·ID·제출번호·오류 문구를 전달합니다. 비밀번호나 연결 코드는 보내지 마세요.</a:t>
            </a:r>
          </a:p>
        </p:txBody>
      </p:sp>
    </p:spTree>
    <p:extLst>
      <p:ext uri="{BB962C8B-B14F-4D97-AF65-F5344CB8AC3E}">
        <p14:creationId xmlns:p14="http://schemas.microsoft.com/office/powerpoint/2010/main" val="52966458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78BD5B-0CF2-43B2-8CCB-E6620202C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수강생에게 안내할 내용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63D212-3CBC-4230-B4AE-B0F96B4C6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35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08947A-BD49-4FFD-8D22-5E02503D0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657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접속 주소와 ID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8902E3-47F1-47FF-A8D5-4AE5A1130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62225"/>
            <a:ext cx="6286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교육장 서버 주소, 학생 본인의 ID와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임시비밀번호를 전달합니다. 첫 로그인 후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비밀번호를 변경합니다.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EC2AA3-2807-499E-9B3A-36C30A7FB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828800"/>
            <a:ext cx="657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제출할 과제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635B9F-24A2-4D49-9946-7D9EC1E5E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562225"/>
            <a:ext cx="6286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정확한 과제 제목과 제출 파일 형식을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안내합니다. 엑셀 과제 파일도 제출할 수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있습니다.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D189EA-1B29-4FB6-93BA-7123D1C67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9625"/>
            <a:ext cx="657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완료 확인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1B074E-FCA8-41B2-B9E4-1F682465B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6286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파일 선택 후 제출 시작을 누르고 제출번호가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나올 때까지 기다립니다. 수정본은 새 제출로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등록합니다.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33EFF4-56F1-4FCB-9170-DD63F1B07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619625"/>
            <a:ext cx="657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중단 시 행동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C6AF00-1D6D-4C50-9D23-5B7A79E47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353050"/>
            <a:ext cx="6286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원본 파일을 그대로 두고 다시 로그인해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미완료 작업을 이어 올립니다. 내용이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바뀌었으면 새 제출로 시작합니다.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EE603E-A29A-417E-BC90-B557A5890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39075"/>
            <a:ext cx="13239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배포용 퀵가이드 2쪽에는 운영자용과 수강생용 절차를 각각 한 쪽에 정리했습니다.</a:t>
            </a:r>
          </a:p>
        </p:txBody>
      </p:sp>
    </p:spTree>
    <p:extLst>
      <p:ext uri="{BB962C8B-B14F-4D97-AF65-F5344CB8AC3E}">
        <p14:creationId xmlns:p14="http://schemas.microsoft.com/office/powerpoint/2010/main" val="60764783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2026-09-08T02:51:58.8770000Z</dcterms:created>
  <dcterms:modified xsi:type="dcterms:W3CDTF">2026-09-08T02:51:58.8770000Z</dcterms:modified>
</coreProperties>
</file>