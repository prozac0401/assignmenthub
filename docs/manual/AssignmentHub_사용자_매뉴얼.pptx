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60f14893b524756" /><Relationship Type="http://schemas.openxmlformats.org/officeDocument/2006/relationships/extended-properties" Target="/docProps/app.xml" Id="R6dd18279a90141cd" /><Relationship Type="http://schemas.openxmlformats.org/officeDocument/2006/relationships/officeDocument" Target="/ppt/presentation.xml" Id="R70856333bffc42c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8e489e7d94e4519"/>
  </p:sldMasterIdLst>
  <p:notesMasterIdLst>
    <p:notesMasterId xmlns:r="http://schemas.openxmlformats.org/officeDocument/2006/relationships" r:id="R7cea361655cd40a8"/>
  </p:notesMasterIdLst>
  <p:sldIdLst>
    <p:sldId xmlns:r="http://schemas.openxmlformats.org/officeDocument/2006/relationships" id="256" r:id="R4dfc84463e754737"/>
    <p:sldId xmlns:r="http://schemas.openxmlformats.org/officeDocument/2006/relationships" id="257" r:id="R054a7111e0da43bc"/>
    <p:sldId xmlns:r="http://schemas.openxmlformats.org/officeDocument/2006/relationships" id="258" r:id="R3490888ff3304206"/>
    <p:sldId xmlns:r="http://schemas.openxmlformats.org/officeDocument/2006/relationships" id="259" r:id="Rc353d10cc1bf4d6e"/>
    <p:sldId xmlns:r="http://schemas.openxmlformats.org/officeDocument/2006/relationships" id="260" r:id="Re374f80fd4a6429b"/>
    <p:sldId xmlns:r="http://schemas.openxmlformats.org/officeDocument/2006/relationships" id="261" r:id="R6dd0a187fc274762"/>
    <p:sldId xmlns:r="http://schemas.openxmlformats.org/officeDocument/2006/relationships" id="262" r:id="R0fe2c7c4f192426f"/>
    <p:sldId xmlns:r="http://schemas.openxmlformats.org/officeDocument/2006/relationships" id="263" r:id="R4beb0abff4424b24"/>
    <p:sldId xmlns:r="http://schemas.openxmlformats.org/officeDocument/2006/relationships" id="264" r:id="Rc562cf7ec39549e6"/>
    <p:sldId xmlns:r="http://schemas.openxmlformats.org/officeDocument/2006/relationships" id="265" r:id="Rca23cd738a794b5b"/>
    <p:sldId xmlns:r="http://schemas.openxmlformats.org/officeDocument/2006/relationships" id="266" r:id="Ra2a3db2962ec4d60"/>
    <p:sldId xmlns:r="http://schemas.openxmlformats.org/officeDocument/2006/relationships" id="267" r:id="Rfee13941c9a14596"/>
    <p:sldId xmlns:r="http://schemas.openxmlformats.org/officeDocument/2006/relationships" id="268" r:id="R009ca9a6546b4d15"/>
    <p:sldId xmlns:r="http://schemas.openxmlformats.org/officeDocument/2006/relationships" id="269" r:id="Ra0342602a1914845"/>
    <p:sldId xmlns:r="http://schemas.openxmlformats.org/officeDocument/2006/relationships" id="270" r:id="Rdec65a782df244f4"/>
    <p:sldId xmlns:r="http://schemas.openxmlformats.org/officeDocument/2006/relationships" id="271" r:id="Ra88680797ddf4ad7"/>
    <p:sldId xmlns:r="http://schemas.openxmlformats.org/officeDocument/2006/relationships" id="272" r:id="R4884acbfa8e64347"/>
    <p:sldId xmlns:r="http://schemas.openxmlformats.org/officeDocument/2006/relationships" id="273" r:id="Rf4c6bc24a1b347b3"/>
    <p:sldId xmlns:r="http://schemas.openxmlformats.org/officeDocument/2006/relationships" id="274" r:id="Re273ef8896054fae"/>
    <p:sldId xmlns:r="http://schemas.openxmlformats.org/officeDocument/2006/relationships" id="275" r:id="R0a96d257ad744c05"/>
    <p:sldId xmlns:r="http://schemas.openxmlformats.org/officeDocument/2006/relationships" id="276" r:id="Rf37e046f0cd14fac"/>
    <p:sldId xmlns:r="http://schemas.openxmlformats.org/officeDocument/2006/relationships" id="277" r:id="R46edc721118640bb"/>
    <p:sldId xmlns:r="http://schemas.openxmlformats.org/officeDocument/2006/relationships" id="278" r:id="Rb1da8d7d3b304881"/>
    <p:sldId xmlns:r="http://schemas.openxmlformats.org/officeDocument/2006/relationships" id="279" r:id="R07b8f200ad704dbf"/>
    <p:sldId xmlns:r="http://schemas.openxmlformats.org/officeDocument/2006/relationships" id="280" r:id="R5b123e17e5a94b9b"/>
    <p:sldId xmlns:r="http://schemas.openxmlformats.org/officeDocument/2006/relationships" id="281" r:id="R275b00b3f28d440c"/>
    <p:sldId xmlns:r="http://schemas.openxmlformats.org/officeDocument/2006/relationships" id="282" r:id="R08f06b9db51840aa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0f538d29ff043fe" /><Relationship Type="http://schemas.openxmlformats.org/officeDocument/2006/relationships/slideMaster" Target="/ppt/slideMasters/slideMaster1.xml" Id="R58e489e7d94e4519" /><Relationship Type="http://schemas.openxmlformats.org/officeDocument/2006/relationships/notesMaster" Target="/ppt/notesMasters/notesMaster1.xml" Id="R7cea361655cd40a8" /><Relationship Type="http://schemas.openxmlformats.org/officeDocument/2006/relationships/presProps" Target="/ppt/presProps.xml" Id="R3e4bf2749d2a45fd" /><Relationship Type="http://schemas.openxmlformats.org/officeDocument/2006/relationships/tableStyles" Target="/ppt/tableStyles.xml" Id="Ra66e7e85c3c44859" /><Relationship Type="http://schemas.openxmlformats.org/officeDocument/2006/relationships/slide" Target="/ppt/slides/slide1.xml" Id="R4dfc84463e754737" /><Relationship Type="http://schemas.openxmlformats.org/officeDocument/2006/relationships/slide" Target="/ppt/slides/slide2.xml" Id="R054a7111e0da43bc" /><Relationship Type="http://schemas.openxmlformats.org/officeDocument/2006/relationships/slide" Target="/ppt/slides/slide3.xml" Id="R3490888ff3304206" /><Relationship Type="http://schemas.openxmlformats.org/officeDocument/2006/relationships/slide" Target="/ppt/slides/slide4.xml" Id="Rc353d10cc1bf4d6e" /><Relationship Type="http://schemas.openxmlformats.org/officeDocument/2006/relationships/slide" Target="/ppt/slides/slide5.xml" Id="Re374f80fd4a6429b" /><Relationship Type="http://schemas.openxmlformats.org/officeDocument/2006/relationships/slide" Target="/ppt/slides/slide6.xml" Id="R6dd0a187fc274762" /><Relationship Type="http://schemas.openxmlformats.org/officeDocument/2006/relationships/slide" Target="/ppt/slides/slide7.xml" Id="R0fe2c7c4f192426f" /><Relationship Type="http://schemas.openxmlformats.org/officeDocument/2006/relationships/slide" Target="/ppt/slides/slide8.xml" Id="R4beb0abff4424b24" /><Relationship Type="http://schemas.openxmlformats.org/officeDocument/2006/relationships/slide" Target="/ppt/slides/slide9.xml" Id="Rc562cf7ec39549e6" /><Relationship Type="http://schemas.openxmlformats.org/officeDocument/2006/relationships/slide" Target="/ppt/slides/slide10.xml" Id="Rca23cd738a794b5b" /><Relationship Type="http://schemas.openxmlformats.org/officeDocument/2006/relationships/slide" Target="/ppt/slides/slide11.xml" Id="Ra2a3db2962ec4d60" /><Relationship Type="http://schemas.openxmlformats.org/officeDocument/2006/relationships/slide" Target="/ppt/slides/slide12.xml" Id="Rfee13941c9a14596" /><Relationship Type="http://schemas.openxmlformats.org/officeDocument/2006/relationships/slide" Target="/ppt/slides/slide13.xml" Id="R009ca9a6546b4d15" /><Relationship Type="http://schemas.openxmlformats.org/officeDocument/2006/relationships/slide" Target="/ppt/slides/slide14.xml" Id="Ra0342602a1914845" /><Relationship Type="http://schemas.openxmlformats.org/officeDocument/2006/relationships/slide" Target="/ppt/slides/slide15.xml" Id="Rdec65a782df244f4" /><Relationship Type="http://schemas.openxmlformats.org/officeDocument/2006/relationships/slide" Target="/ppt/slides/slide16.xml" Id="Ra88680797ddf4ad7" /><Relationship Type="http://schemas.openxmlformats.org/officeDocument/2006/relationships/slide" Target="/ppt/slides/slide17.xml" Id="R4884acbfa8e64347" /><Relationship Type="http://schemas.openxmlformats.org/officeDocument/2006/relationships/slide" Target="/ppt/slides/slide18.xml" Id="Rf4c6bc24a1b347b3" /><Relationship Type="http://schemas.openxmlformats.org/officeDocument/2006/relationships/slide" Target="/ppt/slides/slide19.xml" Id="Re273ef8896054fae" /><Relationship Type="http://schemas.openxmlformats.org/officeDocument/2006/relationships/slide" Target="/ppt/slides/slide20.xml" Id="R0a96d257ad744c05" /><Relationship Type="http://schemas.openxmlformats.org/officeDocument/2006/relationships/slide" Target="/ppt/slides/slide21.xml" Id="Rf37e046f0cd14fac" /><Relationship Type="http://schemas.openxmlformats.org/officeDocument/2006/relationships/slide" Target="/ppt/slides/slide22.xml" Id="R46edc721118640bb" /><Relationship Type="http://schemas.openxmlformats.org/officeDocument/2006/relationships/slide" Target="/ppt/slides/slide23.xml" Id="Rb1da8d7d3b304881" /><Relationship Type="http://schemas.openxmlformats.org/officeDocument/2006/relationships/slide" Target="/ppt/slides/slide24.xml" Id="R07b8f200ad704dbf" /><Relationship Type="http://schemas.openxmlformats.org/officeDocument/2006/relationships/slide" Target="/ppt/slides/slide25.xml" Id="R5b123e17e5a94b9b" /><Relationship Type="http://schemas.openxmlformats.org/officeDocument/2006/relationships/slide" Target="/ppt/slides/slide26.xml" Id="R275b00b3f28d440c" /><Relationship Type="http://schemas.openxmlformats.org/officeDocument/2006/relationships/slide" Target="/ppt/slides/slide27.xml" Id="R08f06b9db51840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2d18cb4d21d493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f1aca3c28794068" /><Relationship Type="http://schemas.openxmlformats.org/officeDocument/2006/relationships/notesMaster" Target="/ppt/notesMasters/notesMaster1.xml" Id="Re3ffc9db447c4b9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1c2e17432084524" /><Relationship Type="http://schemas.openxmlformats.org/officeDocument/2006/relationships/notesMaster" Target="/ppt/notesMasters/notesMaster1.xml" Id="Ra2ba7de18a244d5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79366b59d724119" /><Relationship Type="http://schemas.openxmlformats.org/officeDocument/2006/relationships/notesMaster" Target="/ppt/notesMasters/notesMaster1.xml" Id="R9bc1fe9757c54c9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3328b5d0cbe44d5" /><Relationship Type="http://schemas.openxmlformats.org/officeDocument/2006/relationships/notesMaster" Target="/ppt/notesMasters/notesMaster1.xml" Id="Re61fb890524049a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f577b998f6a475c" /><Relationship Type="http://schemas.openxmlformats.org/officeDocument/2006/relationships/notesMaster" Target="/ppt/notesMasters/notesMaster1.xml" Id="R90d26b74fbb6485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f3bb2a79cc649fd" /><Relationship Type="http://schemas.openxmlformats.org/officeDocument/2006/relationships/notesMaster" Target="/ppt/notesMasters/notesMaster1.xml" Id="R9ded33e1d5c747c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152b771830f40fb" /><Relationship Type="http://schemas.openxmlformats.org/officeDocument/2006/relationships/notesMaster" Target="/ppt/notesMasters/notesMaster1.xml" Id="Rbdcdb2c299754a7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2d1773d541a4306" /><Relationship Type="http://schemas.openxmlformats.org/officeDocument/2006/relationships/notesMaster" Target="/ppt/notesMasters/notesMaster1.xml" Id="R9941beffbdf446f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c448b3bf61443fb" /><Relationship Type="http://schemas.openxmlformats.org/officeDocument/2006/relationships/notesMaster" Target="/ppt/notesMasters/notesMaster1.xml" Id="R472e989c35a5446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e06bca68f964c4c" /><Relationship Type="http://schemas.openxmlformats.org/officeDocument/2006/relationships/notesMaster" Target="/ppt/notesMasters/notesMaster1.xml" Id="R5f95e7260d974eb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3a151b0068a45ca" /><Relationship Type="http://schemas.openxmlformats.org/officeDocument/2006/relationships/notesMaster" Target="/ppt/notesMasters/notesMaster1.xml" Id="R8173a53f6bd6479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dc53f9695e34fa0" /><Relationship Type="http://schemas.openxmlformats.org/officeDocument/2006/relationships/notesMaster" Target="/ppt/notesMasters/notesMaster1.xml" Id="R9cb6a5f679474d1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2c975442e3b4ae6" /><Relationship Type="http://schemas.openxmlformats.org/officeDocument/2006/relationships/notesMaster" Target="/ppt/notesMasters/notesMaster1.xml" Id="Rbe0a493ca78f435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80c5f8c550e45b8" /><Relationship Type="http://schemas.openxmlformats.org/officeDocument/2006/relationships/notesMaster" Target="/ppt/notesMasters/notesMaster1.xml" Id="R486c42448ead47f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acbae1d309e41d1" /><Relationship Type="http://schemas.openxmlformats.org/officeDocument/2006/relationships/notesMaster" Target="/ppt/notesMasters/notesMaster1.xml" Id="Rd7c371323d0e4b6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8319b4b4b764ddd" /><Relationship Type="http://schemas.openxmlformats.org/officeDocument/2006/relationships/notesMaster" Target="/ppt/notesMasters/notesMaster1.xml" Id="R9e19d09a56af4cc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0f8eb0f83ad4588" /><Relationship Type="http://schemas.openxmlformats.org/officeDocument/2006/relationships/notesMaster" Target="/ppt/notesMasters/notesMaster1.xml" Id="Rae100299ba3c43f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588b8b62f7c4ce9" /><Relationship Type="http://schemas.openxmlformats.org/officeDocument/2006/relationships/notesMaster" Target="/ppt/notesMasters/notesMaster1.xml" Id="R42498bdbbde8465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760cee9139c4f8e" /><Relationship Type="http://schemas.openxmlformats.org/officeDocument/2006/relationships/notesMaster" Target="/ppt/notesMasters/notesMaster1.xml" Id="R08cf3b6ac5bc442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0d1a889fa7a4b55" /><Relationship Type="http://schemas.openxmlformats.org/officeDocument/2006/relationships/notesMaster" Target="/ppt/notesMasters/notesMaster1.xml" Id="R4ec22720c7024e0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77935ba6c584888" /><Relationship Type="http://schemas.openxmlformats.org/officeDocument/2006/relationships/notesMaster" Target="/ppt/notesMasters/notesMaster1.xml" Id="R803daf6a312a4b9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98de4a45f344955" /><Relationship Type="http://schemas.openxmlformats.org/officeDocument/2006/relationships/notesMaster" Target="/ppt/notesMasters/notesMaster1.xml" Id="R29ca55412c50481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e7ef3e2bb554d26" /><Relationship Type="http://schemas.openxmlformats.org/officeDocument/2006/relationships/notesMaster" Target="/ppt/notesMasters/notesMaster1.xml" Id="R82fa618e7d7c49f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e20e8fc6188466f" /><Relationship Type="http://schemas.openxmlformats.org/officeDocument/2006/relationships/notesMaster" Target="/ppt/notesMasters/notesMaster1.xml" Id="R7bf8798eb84740e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72c675bfc51431c" /><Relationship Type="http://schemas.openxmlformats.org/officeDocument/2006/relationships/notesMaster" Target="/ppt/notesMasters/notesMaster1.xml" Id="R062636948ffb4ba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138e452cf46740c1" /><Relationship Type="http://schemas.openxmlformats.org/officeDocument/2006/relationships/notesMaster" Target="/ppt/notesMasters/notesMaster1.xml" Id="R11e296f5900340a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dbbcf9696754d1a" /><Relationship Type="http://schemas.openxmlformats.org/officeDocument/2006/relationships/notesMaster" Target="/ppt/notesMasters/notesMaster1.xml" Id="Rfc919249967c44b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서버 운영자는 2~11쪽을 먼저 확인하고, 학생에게는 12~19쪽의 제출 절차를 안내합니다. 이어 올리기 예시는 원본 파일을 그대로 유지한 상태입니다.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실행</a:t>
            </a:r>
          </a:p>
          <a:p xmlns:a="http://schemas.openxmlformats.org/drawingml/2006/main">
            <a:r>
              <a:t>서버 PC에서 start.bat를 두 번 클릭합니다. 처음에는 Python 3.12와 인터넷 연결이 필요합니다.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과정 추가</a:t>
            </a:r>
          </a:p>
          <a:p xmlns:a="http://schemas.openxmlformats.org/drawingml/2006/main">
            <a:r>
              <a:t>‘새 과정 만들기’를 누릅니다. 다음 실행부터는 저장한 과정이 목록에 나타납니다.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설치 오류는 setup.bat의 메시지를 확인하세요. 학생 PC에는 설치하지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기본 정보</a:t>
            </a:r>
          </a:p>
          <a:p xmlns:a="http://schemas.openxmlformats.org/drawingml/2006/main">
            <a:r>
              <a:t>과정명과 저장 폴더를 정합니다. 과정별로 ID, 포트, 저장 폴더를 구분합니다.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관리자 계정</a:t>
            </a:r>
          </a:p>
          <a:p xmlns:a="http://schemas.openxmlformats.org/drawingml/2006/main">
            <a:r>
              <a:t>관리자 ID와 12~128자의 비밀번호를 입력하고 확인란에도 같은 값을 입력합니다.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캡처의 127.0.0.1은 서버 PC 자체 접속용입니다. 교실에서는 학생에게 안내할 서버 IP를 입력하세요.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초기 설정</a:t>
            </a:r>
          </a:p>
          <a:p xmlns:a="http://schemas.openxmlformats.org/drawingml/2006/main">
            <a:r>
              <a:t>파일당 2 GiB, 학생별 누적 10 GiB, 최소 여유 공간 5 GiB가 기본값입니다.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수업에 맞게 조정</a:t>
            </a:r>
          </a:p>
          <a:p xmlns:a="http://schemas.openxmlformats.org/drawingml/2006/main">
            <a:r>
              <a:t>묶음당 파일 수와 미완료 작업 보관 시간을 확인하고 ‘과정 만들기’를 누릅니다.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이전 완료 버전도 학생의 누적 사용량에 포함됩니다. 설정 변경은 서버 중지 후 가능합니다.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서버 시작</a:t>
            </a:r>
          </a:p>
          <a:p xmlns:a="http://schemas.openxmlformats.org/drawingml/2006/main">
            <a:r>
              <a:t>목록에서 과정을 선택하고 ‘서버 시작’을 누릅니다. 실행 중 상태가 될 때까지 기다립니다.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접속 주소</a:t>
            </a:r>
          </a:p>
          <a:p xmlns:a="http://schemas.openxmlformats.org/drawingml/2006/main">
            <a:r>
              <a:t>‘주소 복사’로 주소를 복사합니다. ‘관리자 화면 열기’로 관리자 화면에 접속합니다.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실제 교실에서는 학생 PC에서 복사한 주소가 열리는지 먼저 확인하세요. 화면의 임의 포트는 예시입니다.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진단 실행</a:t>
            </a:r>
          </a:p>
          <a:p xmlns:a="http://schemas.openxmlformats.org/drawingml/2006/main">
            <a:r>
              <a:t>서버 관리창에서 ‘접속·오류 점검’을 누릅니다. 저장 폴더와 서버 응답 결과를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다른 PC에서 확인</a:t>
            </a:r>
          </a:p>
          <a:p xmlns:a="http://schemas.openxmlformats.org/drawingml/2006/main">
            <a:r>
              <a:t>서버 IP와 해당 과정의 TCP 포트, 교육장 방화벽 설정을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127.0.0.1은 다른 PC에 안내할 주소로 사용할 수 없습니다. 이 진단만으로 교실 네트워크 연결을 보장하지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계정 입력</a:t>
            </a:r>
          </a:p>
          <a:p xmlns:a="http://schemas.openxmlformats.org/drawingml/2006/main">
            <a:r>
              <a:t>과정 생성 시 정한 관리자 ID와 비밀번호를 입력합니다.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접속 확인</a:t>
            </a:r>
          </a:p>
          <a:p xmlns:a="http://schemas.openxmlformats.org/drawingml/2006/main">
            <a:r>
              <a:t>로그인 후 왼쪽에 관리자 메뉴가 보이는지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공통 기본 비밀번호는 없습니다. 과정을 만들 때 입력한 관리자 계정을 사용합니다.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명단 등록</a:t>
            </a:r>
          </a:p>
          <a:p xmlns:a="http://schemas.openxmlformats.org/drawingml/2006/main">
            <a:r>
              <a:t>운영 안내에서 ‘명단 등록·사용자 관리로 이동’을 누릅니다.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과제 확인</a:t>
            </a:r>
          </a:p>
          <a:p xmlns:a="http://schemas.openxmlformats.org/drawingml/2006/main">
            <a:r>
              <a:t>명단 등록 후 ‘과제 관리’에서 수업에 사용할 과제와 접수 상태를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예시 수업은 ‘파이썬 기초 실습’, 학생은 템플릿의 001과 002를 사용합니다.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템플릿 작성</a:t>
            </a:r>
          </a:p>
          <a:p xmlns:a="http://schemas.openxmlformats.org/drawingml/2006/main">
            <a:r>
              <a:t>users 시트의 user_id와 name을 입력합니다. group은 선택이며 001 같은 ID는 텍스트로 유지합니다.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등록 전 확인</a:t>
            </a:r>
          </a:p>
          <a:p xmlns:a="http://schemas.openxmlformats.org/drawingml/2006/main">
            <a:r>
              <a:t>파일을 올리고 ‘명단 검증 및 미리보기’를 누릅니다. 오류가 없으면 ‘검증된 명단 반영’을 누릅니다.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배포 템플릿의 001, 002는 예시입니다. 실제 사용 시 예시 행을 실제 명단으로 교체하세요.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임시비밀번호 보관</a:t>
            </a:r>
          </a:p>
          <a:p xmlns:a="http://schemas.openxmlformats.org/drawingml/2006/main">
            <a:r>
              <a:t>등록 직후 임시비밀번호 결과 CSV를 내려받고 학생별로 안전하게 전달합니다. 결과를 닫으면 다시 조회할 수 없습니다.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등록 결과 확인</a:t>
            </a:r>
          </a:p>
          <a:p xmlns:a="http://schemas.openxmlformats.org/drawingml/2006/main">
            <a:r>
              <a:t>사용자 목록에서 ID, 이름, 활성 상태를 확인합니다. 잊은 비밀번호는 관리자가 초기화합니다.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캡처는 비밀번호 결과를 닫은 뒤의 화면입니다. 재등록만으로 기존 비밀번호와 제출 기록이 바뀌지는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과제 입력</a:t>
            </a:r>
          </a:p>
          <a:p xmlns:a="http://schemas.openxmlformats.org/drawingml/2006/main">
            <a:r>
              <a:t>과제 관리에서 ‘새 과제 추가’를 펼칩니다. 예시는 ‘1주차 실습 과제’입니다.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접수 시작</a:t>
            </a:r>
          </a:p>
          <a:p xmlns:a="http://schemas.openxmlformats.org/drawingml/2006/main">
            <a:r>
              <a:t>설명을 입력하고 ‘즉시 접수 시작’을 확인한 뒤 ‘과제 추가’를 누릅니다.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기본 과제를 수정해서 사용해도 됩니다. 여러 과제를 운영할 때는 학생에게 정확한 과제명을 안내하세요.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임시비밀번호 사용</a:t>
            </a:r>
          </a:p>
          <a:p xmlns:a="http://schemas.openxmlformats.org/drawingml/2006/main">
            <a:r>
              <a:t>학생은 전달받은 ID와 임시비밀번호로 로그인합니다. 예시 ID는 001입니다.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새 비밀번호 설정</a:t>
            </a:r>
          </a:p>
          <a:p xmlns:a="http://schemas.openxmlformats.org/drawingml/2006/main">
            <a:r>
              <a:t>현재 임시비밀번호와 새 비밀번호를 입력합니다. 변경 후 새 비밀번호로 다시 로그인합니다.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비밀번호는 12~128자이며 현재 값과 달라야 합니다. 변경을 마쳐야 과제를 제출할 수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연결 코드 발급</a:t>
            </a:r>
          </a:p>
          <a:p xmlns:a="http://schemas.openxmlformats.org/drawingml/2006/main">
            <a:r>
              <a:t>‘일회용 연결 코드 발급’을 누르고 코드를 복사합니다.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제출 창 열기</a:t>
            </a:r>
          </a:p>
          <a:p xmlns:a="http://schemas.openxmlformats.org/drawingml/2006/main">
            <a:r>
              <a:t>‘파일 제출·이어 올리기 화면 열기’를 누릅니다. 다음 화면에서 코드를 입력합니다.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코드는 120초 동안 한 번만 사용할 수 있습니다. 캡처에서는 코드 영역을 가렸습니다.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코드로 연결</a:t>
            </a:r>
          </a:p>
          <a:p xmlns:a="http://schemas.openxmlformats.org/drawingml/2006/main">
            <a:r>
              <a:t>복사한 코드를 입력하고 ‘코드로 연결’을 누릅니다.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계정으로 연결</a:t>
            </a:r>
          </a:p>
          <a:p xmlns:a="http://schemas.openxmlformats.org/drawingml/2006/main">
            <a:r>
              <a:t>코드가 만료되었거나 창을 다시 열었다면 같은 학생 ID와 새 비밀번호로 로그인해도 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다른 사람의 계정이나 연결 코드를 사용하지 마세요. 로그인 후 이름과 ID를 확인합니다.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과제 확인</a:t>
            </a:r>
          </a:p>
          <a:p xmlns:a="http://schemas.openxmlformats.org/drawingml/2006/main">
            <a:r>
              <a:t>제출할 과제를 ‘1주차 실습 과제’로 선택합니다.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파일 확인</a:t>
            </a:r>
          </a:p>
          <a:p xmlns:a="http://schemas.openxmlformats.org/drawingml/2006/main">
            <a:r>
              <a:t>제출할 파일을 선택하고 이름, 개수, 총용량을 확인한 뒤 ‘제출 시작’을 누릅니다.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선택한 파일 전체가 하나의 제출 묶음입니다. 오른쪽에서 나의 사용량과 파일당 한도를 확인할 수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전송 상태 확인</a:t>
            </a:r>
          </a:p>
          <a:p xmlns:a="http://schemas.openxmlformats.org/drawingml/2006/main">
            <a:r>
              <a:t>예시에서는 전송 도중 연결을 끊고 일시 중지했습니다. 서버가 확정한 수신량을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창을 유지한 경우</a:t>
            </a:r>
          </a:p>
          <a:p xmlns:a="http://schemas.openxmlformats.org/drawingml/2006/main">
            <a:r>
              <a:t>네트워크를 복구한 뒤 ‘다시 시도’를 누릅니다. 완료 전까지 원본 파일을 보관합니다.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전송 중이거나 일시 중지된 작업은 제출 완료로 집계하지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기존 작업 선택</a:t>
            </a:r>
          </a:p>
          <a:p xmlns:a="http://schemas.openxmlformats.org/drawingml/2006/main">
            <a:r>
              <a:t>다시 로그인하고 ‘이어 올리기’ 영역에서 ‘이 작업 이어 올리기’를 누릅니다. 좁은 화면에서는 아래로 스크롤합니다.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다시 선택</a:t>
            </a:r>
          </a:p>
          <a:p xmlns:a="http://schemas.openxmlformats.org/drawingml/2006/main">
            <a:r>
              <a:t>처음 선택한 파일을 모두 다시 선택하고 ‘확인 후 이어 올리기’를 누릅니다.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파일 이름만 같아서는 안 됩니다. 내용이 바뀌었다면 새 제출로 시작해야 합니다. 기본 보관 시간은 24시간입니다.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완료 안내</a:t>
            </a:r>
          </a:p>
          <a:p xmlns:a="http://schemas.openxmlformats.org/drawingml/2006/main">
            <a:r>
              <a:t>‘제출이 완료되었습니다.’ 안내와 제출번호가 나타날 때까지 기다립니다.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제출 정보 기록</a:t>
            </a:r>
          </a:p>
          <a:p xmlns:a="http://schemas.openxmlformats.org/drawingml/2006/main">
            <a:r>
              <a:t>과제명, 파일명, 완료 시각을 확인합니다. 문의할 때 제출번호를 함께 전달합니다.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전송량이 100%여도 검증과 저장이 남아 있을 수 있습니다. 제출번호가 나온 묶음을 완료로 확인합니다.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이력 확인</a:t>
            </a:r>
          </a:p>
          <a:p xmlns:a="http://schemas.openxmlformats.org/drawingml/2006/main">
            <a:r>
              <a:t>‘완료된 제출 이력’에서 과제명과 제출번호, 버전을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파일 확인</a:t>
            </a:r>
          </a:p>
          <a:p xmlns:a="http://schemas.openxmlformats.org/drawingml/2006/main">
            <a:r>
              <a:t>파일 옆 ‘다운로드’를 눌러 저장된 파일을 내려받습니다. 다시 제출한 파일은 새 버전으로 남습니다.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 예시에서는 실제 파일을 내려받아 원본과 내용이 같은지 확인했습니다.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과제 선택</a:t>
            </a:r>
          </a:p>
          <a:p xmlns:a="http://schemas.openxmlformats.org/drawingml/2006/main">
            <a:r>
              <a:t>‘제출 현황’에서 ‘1주차 실습 과제’를 선택합니다. 예시는 대상 2명 중 1명이 제출한 상태입니다.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후속 확인</a:t>
            </a:r>
          </a:p>
          <a:p xmlns:a="http://schemas.openxmlformats.org/drawingml/2006/main">
            <a:r>
              <a:t>미제출자 필터로 안내 대상을 찾습니다. 아래 완료 제출물을 펼쳐 파일과 보존 버전을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한 학생이 여러 번 제출해도 제출자는 1명으로 셉니다. CSV 준비 버튼으로 현황을 내려받을 수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사용량 확인</a:t>
            </a:r>
          </a:p>
          <a:p xmlns:a="http://schemas.openxmlformats.org/drawingml/2006/main">
            <a:r>
              <a:t>‘저장 공간·기록’에서 완료 사용량과 진행 중 예약 용량, 디스크 여유 공간을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공간 부족 대응</a:t>
            </a:r>
          </a:p>
          <a:p xmlns:a="http://schemas.openxmlformats.org/drawingml/2006/main">
            <a:r>
              <a:t>미완료 작업 상태를 확인하고 필요하면 학생이 해당 업로드를 취소합니다. 한도 변경은 서버 중지 후 진행합니다.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완료된 제출물은 자동 삭제하지 않습니다. 저장 폴더의 파일을 임의로 옮기거나 삭제하지 마세요.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작업 마무리</a:t>
            </a:r>
          </a:p>
          <a:p xmlns:a="http://schemas.openxmlformats.org/drawingml/2006/main">
            <a:r>
              <a:t>학생에게 전송 종료를 안내하고 제출 현황을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서버 중지</a:t>
            </a:r>
          </a:p>
          <a:p xmlns:a="http://schemas.openxmlformats.org/drawingml/2006/main">
            <a:r>
              <a:t>서버 관리창에서 해당 과정을 선택한 뒤 ‘서버 중지’를 누릅니다. 중지 상태를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관리창의 닫기 버튼만 누르면 서버는 계속 실행됩니다. 다음 수업은 관리창을 다시 열고 서버를 시작하세요.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1. 중지 확인</a:t>
            </a:r>
          </a:p>
          <a:p xmlns:a="http://schemas.openxmlformats.org/drawingml/2006/main">
            <a:r>
              <a:t>서버 관리창에서 해당 과정이 중지 상태인지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함께 복사할 항목</a:t>
            </a:r>
          </a:p>
          <a:p xmlns:a="http://schemas.openxmlformats.org/drawingml/2006/main">
            <a:r>
              <a:t>instances의 과정 설정 JSON과 해당 과정의 저장 폴더 전체를 함께 복사합니다. 저장 폴더에는 DB, 인증 정보와 제출물이 들어 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별도 위치에 보관</a:t>
            </a:r>
          </a:p>
          <a:p xmlns:a="http://schemas.openxmlformats.org/drawingml/2006/main">
            <a:r>
              <a:t>날짜별 백업 폴더를 사용하고 접근 권한을 제한합니다. 완료 제출물만 골라 복사하면 계정과 제출 이력을 함께 복구할 수 없습니다.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4. 복원 시 확인</a:t>
            </a:r>
          </a:p>
          <a:p xmlns:a="http://schemas.openxmlformats.org/drawingml/2006/main">
            <a:r>
              <a:t>운영 문서의 복원 절차를 따릅니다. 기존 서버와 복원 서버가 같은 저장 폴더를 동시에 사용하지 않도록 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실제 명단, 비밀번호 CSV, 데이터 폴더와 백업 파일은 GitHub에 올리지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로그인이 안 될 때</a:t>
            </a:r>
          </a:p>
          <a:p xmlns:a="http://schemas.openxmlformats.org/drawingml/2006/main">
            <a:r>
              <a:t>과정 주소와 ID를 확인합니다. 비밀번호를 잊었다면 관리자에게 초기화를 요청합니다.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다른 PC에서 접속이 안 될 때</a:t>
            </a:r>
          </a:p>
          <a:p xmlns:a="http://schemas.openxmlformats.org/drawingml/2006/main">
            <a:r>
              <a:t>서버 IP와 포트를 확인하고 서버 관리창의 접속 점검을 실행합니다. 127.0.0.1은 서버 자체 접속용입니다.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업로드를 이어 갈 수 없을 때</a:t>
            </a:r>
          </a:p>
          <a:p xmlns:a="http://schemas.openxmlformats.org/drawingml/2006/main">
            <a:r>
              <a:t>같은 계정과 원본 파일을 사용했는지 확인합니다. 취소하거나 보관 기간이 지난 작업은 새로 제출합니다.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화면과 상세 안내</a:t>
            </a:r>
          </a:p>
          <a:p xmlns:a="http://schemas.openxmlformats.org/drawingml/2006/main">
            <a:r>
              <a:t>README.md에서 설치 방법을, docs/admin-guide.md와 docs/user-guide.md에서 세부 운영 절차를 확인할 수 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교실의 다른 PC 접속과 TLS 인증서 운영은 환경에 맞게 별도로 확인해야 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창 크기 조절</a:t>
            </a:r>
          </a:p>
          <a:p xmlns:a="http://schemas.openxmlformats.org/drawingml/2006/main">
            <a:r>
              <a:t>관리창을 좁히면 실행 버튼이 두 줄로 배치됩니다. 주소는 입력 영역에서 선택하거나 주소 복사로 가져옵니다.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아래 영역 확인</a:t>
            </a:r>
          </a:p>
          <a:p xmlns:a="http://schemas.openxmlformats.org/drawingml/2006/main">
            <a:r>
              <a:t>높이가 부족하면 오른쪽 스크롤바나 마우스 휠로 이동합니다. 서버 시작과 중지 버튼은 같은 순서를 유지합니다.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예시는 640 × 520 크기의 관리창입니다. 과정 설정 창에서도 스크롤과 Tab 키로 입력란을 이동할 수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파일 선택</a:t>
            </a:r>
          </a:p>
          <a:p xmlns:a="http://schemas.openxmlformats.org/drawingml/2006/main">
            <a:r>
              <a:t>파일 선택 버튼으로 원본을 선택합니다. PC에서는 파일을 선택 영역으로 끌어 놓을 수도 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용량과 이어 올리기</a:t>
            </a:r>
          </a:p>
          <a:p xmlns:a="http://schemas.openxmlformats.org/drawingml/2006/main">
            <a:r>
              <a:t>화면이 좁으면 저장 용량과 이어 올리기가 선택 영역 아래에 나타납니다. 아래로 스크롤해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예시는 브라우저 폭 390px입니다. 파일을 선택한 뒤 제출 시작을 눌러야 전송합니다.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메뉴와 현황</a:t>
            </a:r>
          </a:p>
          <a:p xmlns:a="http://schemas.openxmlformats.org/drawingml/2006/main">
            <a:r>
              <a:t>작은 화면에서는 왼쪽 위의 메뉴 열기 버튼으로 관리자 메뉴를 펼칩니다. 수치와 입력란은 창 너비에 맞춰 재배치됩니다.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표의 나머지 열</a:t>
            </a:r>
          </a:p>
          <a:p xmlns:a="http://schemas.openxmlformats.org/drawingml/2006/main">
            <a:r>
              <a:t>표가 화면보다 넓으면 표 안에서 가로로 스크롤합니다. 상세 제출 이력은 아래쪽에서 펼쳐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예시는 브라우저 폭 768px입니다. 같은 메뉴와 기능을 창 크기에 맞춰 사용할 수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d1a37b5d844c1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84478ff10f14774" /><Relationship Type="http://schemas.openxmlformats.org/officeDocument/2006/relationships/slideLayout" Target="/ppt/slideLayouts/slideLayout1.xml" Id="R48485984e62e4ed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8485984e62e4ed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1de639ab8047d0" /><Relationship Type="http://schemas.openxmlformats.org/officeDocument/2006/relationships/notesSlide" Target="/ppt/notesSlides/notesSlide1.xml" Id="Re08e340612e0488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246b2556fc42b7" /><Relationship Type="http://schemas.openxmlformats.org/officeDocument/2006/relationships/image" Target="/ppt/media/image.png" Id="R82c86e6455e540c4" /><Relationship Type="http://schemas.openxmlformats.org/officeDocument/2006/relationships/notesSlide" Target="/ppt/notesSlides/notesSlide2.xml" Id="R147a2ffa9fb2483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2714a879ab468c" /><Relationship Type="http://schemas.openxmlformats.org/officeDocument/2006/relationships/image" Target="/ppt/media/image2.png" Id="Rba2d9c058aa7471d" /><Relationship Type="http://schemas.openxmlformats.org/officeDocument/2006/relationships/notesSlide" Target="/ppt/notesSlides/notesSlide3.xml" Id="R6e052770f70d411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c5a2a3e1b94fdd" /><Relationship Type="http://schemas.openxmlformats.org/officeDocument/2006/relationships/image" Target="/ppt/media/image3.png" Id="Rb7cd900b459145fe" /><Relationship Type="http://schemas.openxmlformats.org/officeDocument/2006/relationships/notesSlide" Target="/ppt/notesSlides/notesSlide4.xml" Id="Rf04c50b6bf96404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03d0814d3b46c9" /><Relationship Type="http://schemas.openxmlformats.org/officeDocument/2006/relationships/image" Target="/ppt/media/image4.png" Id="R1c70360813444293" /><Relationship Type="http://schemas.openxmlformats.org/officeDocument/2006/relationships/notesSlide" Target="/ppt/notesSlides/notesSlide5.xml" Id="Rd0acc3a05a884ae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8b7d7f4c61480f" /><Relationship Type="http://schemas.openxmlformats.org/officeDocument/2006/relationships/image" Target="/ppt/media/image5.png" Id="R0c3449c568604f68" /><Relationship Type="http://schemas.openxmlformats.org/officeDocument/2006/relationships/notesSlide" Target="/ppt/notesSlides/notesSlide6.xml" Id="R0d981d881d9a48a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db15fda6384279" /><Relationship Type="http://schemas.openxmlformats.org/officeDocument/2006/relationships/image" Target="/ppt/media/image6.png" Id="Rab540b6fda1647b8" /><Relationship Type="http://schemas.openxmlformats.org/officeDocument/2006/relationships/notesSlide" Target="/ppt/notesSlides/notesSlide7.xml" Id="Rf20278c905e7461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2805d4cade4a6a" /><Relationship Type="http://schemas.openxmlformats.org/officeDocument/2006/relationships/image" Target="/ppt/media/image7.png" Id="Rd1d7a6fee8424c65" /><Relationship Type="http://schemas.openxmlformats.org/officeDocument/2006/relationships/notesSlide" Target="/ppt/notesSlides/notesSlide8.xml" Id="R89e619bedffa4da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b732c9bb2543c3" /><Relationship Type="http://schemas.openxmlformats.org/officeDocument/2006/relationships/image" Target="/ppt/media/image8.png" Id="R19505a7af24a44ab" /><Relationship Type="http://schemas.openxmlformats.org/officeDocument/2006/relationships/notesSlide" Target="/ppt/notesSlides/notesSlide9.xml" Id="R544a6bf3e0854ed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8b5c5422124d6b" /><Relationship Type="http://schemas.openxmlformats.org/officeDocument/2006/relationships/image" Target="/ppt/media/image9.png" Id="Raebd96202e96495d" /><Relationship Type="http://schemas.openxmlformats.org/officeDocument/2006/relationships/notesSlide" Target="/ppt/notesSlides/notesSlide10.xml" Id="R3b5fe99be4c4474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7673c618754327" /><Relationship Type="http://schemas.openxmlformats.org/officeDocument/2006/relationships/image" Target="/ppt/media/image10.png" Id="R7e6eda3a0c254290" /><Relationship Type="http://schemas.openxmlformats.org/officeDocument/2006/relationships/notesSlide" Target="/ppt/notesSlides/notesSlide11.xml" Id="Rd9da64fefa1b449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92973868b74bdc" /><Relationship Type="http://schemas.openxmlformats.org/officeDocument/2006/relationships/image" Target="/ppt/media/image11.png" Id="R6e214e70e7914f5b" /><Relationship Type="http://schemas.openxmlformats.org/officeDocument/2006/relationships/notesSlide" Target="/ppt/notesSlides/notesSlide12.xml" Id="R73677935280f47b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632b03d9cb472c" /><Relationship Type="http://schemas.openxmlformats.org/officeDocument/2006/relationships/image" Target="/ppt/media/image12.png" Id="Rbb0bd5127f0940c4" /><Relationship Type="http://schemas.openxmlformats.org/officeDocument/2006/relationships/notesSlide" Target="/ppt/notesSlides/notesSlide13.xml" Id="R0e8eb53acdc3402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909159b10e41e8" /><Relationship Type="http://schemas.openxmlformats.org/officeDocument/2006/relationships/image" Target="/ppt/media/image13.png" Id="Rddec0bacabd04b7b" /><Relationship Type="http://schemas.openxmlformats.org/officeDocument/2006/relationships/notesSlide" Target="/ppt/notesSlides/notesSlide14.xml" Id="R7a2db29ef1294e3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69e197ab644d28" /><Relationship Type="http://schemas.openxmlformats.org/officeDocument/2006/relationships/image" Target="/ppt/media/image14.png" Id="R23e75b7ee4564c56" /><Relationship Type="http://schemas.openxmlformats.org/officeDocument/2006/relationships/notesSlide" Target="/ppt/notesSlides/notesSlide15.xml" Id="Rebce2d235cb24ee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8c962617964e86" /><Relationship Type="http://schemas.openxmlformats.org/officeDocument/2006/relationships/image" Target="/ppt/media/image15.png" Id="Rbadbb76633b443eb" /><Relationship Type="http://schemas.openxmlformats.org/officeDocument/2006/relationships/notesSlide" Target="/ppt/notesSlides/notesSlide16.xml" Id="Rf39b55c905954f7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02f68e1a34407e" /><Relationship Type="http://schemas.openxmlformats.org/officeDocument/2006/relationships/image" Target="/ppt/media/image16.png" Id="Ra79bb23f60bb42a9" /><Relationship Type="http://schemas.openxmlformats.org/officeDocument/2006/relationships/notesSlide" Target="/ppt/notesSlides/notesSlide17.xml" Id="R153942a9156b476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9fc9577e9b4967" /><Relationship Type="http://schemas.openxmlformats.org/officeDocument/2006/relationships/image" Target="/ppt/media/image17.png" Id="R397dfb59903844a6" /><Relationship Type="http://schemas.openxmlformats.org/officeDocument/2006/relationships/notesSlide" Target="/ppt/notesSlides/notesSlide18.xml" Id="Rb7b367485ec94a7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6a5b64b9294836" /><Relationship Type="http://schemas.openxmlformats.org/officeDocument/2006/relationships/image" Target="/ppt/media/image18.png" Id="R31c54abb1311458b" /><Relationship Type="http://schemas.openxmlformats.org/officeDocument/2006/relationships/notesSlide" Target="/ppt/notesSlides/notesSlide19.xml" Id="R5b29e1bd6f76484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2d83df1b4d4107" /><Relationship Type="http://schemas.openxmlformats.org/officeDocument/2006/relationships/image" Target="/ppt/media/image19.png" Id="Rba3812fad571415c" /><Relationship Type="http://schemas.openxmlformats.org/officeDocument/2006/relationships/notesSlide" Target="/ppt/notesSlides/notesSlide20.xml" Id="R00a7fa40be9c4fc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307002db2242f6" /><Relationship Type="http://schemas.openxmlformats.org/officeDocument/2006/relationships/image" Target="/ppt/media/image20.png" Id="Rb569c74b1ea34e20" /><Relationship Type="http://schemas.openxmlformats.org/officeDocument/2006/relationships/notesSlide" Target="/ppt/notesSlides/notesSlide21.xml" Id="Rc4a1406a532c487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a79ce297a84197" /><Relationship Type="http://schemas.openxmlformats.org/officeDocument/2006/relationships/image" Target="/ppt/media/image21.png" Id="R6ecc18ed4e834f75" /><Relationship Type="http://schemas.openxmlformats.org/officeDocument/2006/relationships/notesSlide" Target="/ppt/notesSlides/notesSlide22.xml" Id="R4a637062d77f4df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040a34e9c34350" /><Relationship Type="http://schemas.openxmlformats.org/officeDocument/2006/relationships/notesSlide" Target="/ppt/notesSlides/notesSlide23.xml" Id="Re1e913fe959740d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35d7c58eb7401e" /><Relationship Type="http://schemas.openxmlformats.org/officeDocument/2006/relationships/notesSlide" Target="/ppt/notesSlides/notesSlide24.xml" Id="R50d882d4f20e44a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c02d70ab1841a7" /><Relationship Type="http://schemas.openxmlformats.org/officeDocument/2006/relationships/image" Target="/ppt/media/image22.png" Id="R549e7e5071f94427" /><Relationship Type="http://schemas.openxmlformats.org/officeDocument/2006/relationships/notesSlide" Target="/ppt/notesSlides/notesSlide25.xml" Id="R7719db60e2e247f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7b6f7c4747495b" /><Relationship Type="http://schemas.openxmlformats.org/officeDocument/2006/relationships/image" Target="/ppt/media/image23.png" Id="Re642ee09494249d5" /><Relationship Type="http://schemas.openxmlformats.org/officeDocument/2006/relationships/notesSlide" Target="/ppt/notesSlides/notesSlide26.xml" Id="R83f12dfc3c0a455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300908687e447c" /><Relationship Type="http://schemas.openxmlformats.org/officeDocument/2006/relationships/image" Target="/ppt/media/image24.png" Id="Rfa39dac858354fa5" /><Relationship Type="http://schemas.openxmlformats.org/officeDocument/2006/relationships/notesSlide" Target="/ppt/notesSlides/notesSlide27.xml" Id="R4466badcb98b401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0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98DC95-5B3E-4B32-AEC3-26922AC0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81200"/>
            <a:ext cx="1323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05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705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AssignmentHub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FC3D34-7F21-4A74-BE10-C044898E4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67075"/>
            <a:ext cx="13049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5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사용자 매뉴얼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8DD963-CD5A-4DA9-BD49-BA5A2ACEB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76750"/>
            <a:ext cx="1285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서버 운영과 학생의 과제 제출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EAE3FA-B2C4-4FB4-BFA4-199185FA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572250"/>
            <a:ext cx="1143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파이썬 기초 실습 예시</a:t>
            </a:r>
          </a:p>
          <a:p xmlns:a="http://schemas.openxmlformats.org/drawingml/2006/main">
            <a:pPr>
              <a:defRPr sz="20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2026년 9월</a:t>
            </a:r>
          </a:p>
        </p:txBody>
      </p:sp>
    </p:spTree>
    <p:extLst>
      <p:ext uri="{BB962C8B-B14F-4D97-AF65-F5344CB8AC3E}">
        <p14:creationId xmlns:p14="http://schemas.microsoft.com/office/powerpoint/2010/main" val="748229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4AB225-4680-4BAA-A208-1BEEDDA6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 관리창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8F6CC0-7D4A-4C34-B40E-0BDA16399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38218F-8193-4228-B956-02ABB7BFA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실행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7E185C-1183-4767-8DCB-B255E23B2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 PC에서 start.bat를 두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번 클릭합니다. 처음에는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Python 3.12와 인터넷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연결이 필요합니다.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92F4EB-3041-4516-9B2E-B91DDAC29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과정 추가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5EA0DC-FCBD-41C5-8699-BCA29C0D4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‘새 과정 만들기’를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누릅니다. 다음 실행부터는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저장한 과정이 목록에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나타납니다.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c86e6455e540c4"/>
          <a:stretch xmlns:a="http://schemas.openxmlformats.org/drawingml/2006/main"/>
        </p:blipFill>
        <p:spPr>
          <a:xfrm xmlns:a="http://schemas.openxmlformats.org/drawingml/2006/main">
            <a:off x="5152900" y="1476375"/>
            <a:ext cx="9029951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5BDC4A-965F-4D99-9095-3FB2D337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설치 오류는 setup.bat의 메시지를 확인하세요. 학생 PC에는 설치하지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5700396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CE3B86-1795-4B00-A561-49C6FDE63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새 과정의 접속 정보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63C692-05DC-400F-878F-0588A1115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89C697-164B-4D72-9B27-6953A282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기본 정보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193EF8-7214-4389-B74B-F66E77934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과정명과 저장 폴더를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정합니다. 과정별로 ID,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포트, 저장 폴더를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구분합니다.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D10EC0-A322-46F2-A0D1-8F3275BEE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관리자 계정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E042C4-22ED-4C19-9887-6C174367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관리자 ID와 12~128자의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비밀번호를 입력하고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확인란에도 같은 값을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입력합니다.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2d9c058aa7471d"/>
          <a:stretch xmlns:a="http://schemas.openxmlformats.org/drawingml/2006/main"/>
        </p:blipFill>
        <p:spPr>
          <a:xfrm xmlns:a="http://schemas.openxmlformats.org/drawingml/2006/main">
            <a:off x="6630528" y="1476375"/>
            <a:ext cx="6074694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AF3F4B-7C48-4B44-8554-620E69761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캡처의 127.0.0.1은 서버 PC 자체 접속용입니다. 교실에서는 학생에게 안내할 서버 IP를 입력하세요.</a:t>
            </a:r>
          </a:p>
        </p:txBody>
      </p:sp>
    </p:spTree>
    <p:extLst>
      <p:ext uri="{BB962C8B-B14F-4D97-AF65-F5344CB8AC3E}">
        <p14:creationId xmlns:p14="http://schemas.microsoft.com/office/powerpoint/2010/main" val="60024088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D66E98-4B1C-47A8-8595-EDF10183C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용량과 전송 설정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502242-0808-4208-BEAF-89F06C64B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447C47-B0BA-42FF-9D12-04F34F4F3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초기 설정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973025-97B7-4032-809A-18CEBE847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파일당 2 GiB, 학생별 누적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10 GiB, 최소 여유 공간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5 GiB가 기본값입니다.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8177AA-EB1D-4AE3-B2F7-1A0AE5B1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수업에 맞게 조정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FEBC57-686A-40E7-ADB7-5C70E07AE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묶음당 파일 수와 미완료 작업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보관 시간을 확인하고 ‘과정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만들기’를 누릅니다.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cd900b459145fe"/>
          <a:stretch xmlns:a="http://schemas.openxmlformats.org/drawingml/2006/main"/>
        </p:blipFill>
        <p:spPr>
          <a:xfrm xmlns:a="http://schemas.openxmlformats.org/drawingml/2006/main">
            <a:off x="6630528" y="1476375"/>
            <a:ext cx="6074694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F13224-9F94-46B2-A458-7F74B1422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이전 완료 버전도 학생의 누적 사용량에 포함됩니다. 설정 변경은 서버 중지 후 가능합니다.</a:t>
            </a:r>
          </a:p>
        </p:txBody>
      </p:sp>
    </p:spTree>
    <p:extLst>
      <p:ext uri="{BB962C8B-B14F-4D97-AF65-F5344CB8AC3E}">
        <p14:creationId xmlns:p14="http://schemas.microsoft.com/office/powerpoint/2010/main" val="3783932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1E22BE-A35D-4992-8ED2-F8118CDD2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 시작과 주소 안내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F175F7-69E8-43E8-806B-4D0600A2B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2650D0-1265-487D-A344-9A3A92D54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서버 시작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CAB5A5-8F12-4C73-AE71-3DB12C665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목록에서 과정을 선택하고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‘서버 시작’을 누릅니다.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실행 중 상태가 될 때까지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기다립니다.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CA4563-36BD-45A8-8655-E28DB3728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접속 주소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11CA72-620C-4B75-A1CE-1A761BA6C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‘주소 복사’로 주소를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복사합니다. ‘관리자 화면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열기’로 관리자 화면에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접속합니다.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70360813444293"/>
          <a:stretch xmlns:a="http://schemas.openxmlformats.org/drawingml/2006/main"/>
        </p:blipFill>
        <p:spPr>
          <a:xfrm xmlns:a="http://schemas.openxmlformats.org/drawingml/2006/main">
            <a:off x="5152900" y="1476375"/>
            <a:ext cx="9029951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1F69F5-9704-4E13-8227-D97858334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실제 교실에서는 학생 PC에서 복사한 주소가 열리는지 먼저 확인하세요. 화면의 임의 포트는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11266104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186572-2AFA-4CE9-93B8-63E1B408C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접속이 안 될 때의 점검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731927-6FF6-432A-A0B7-5F38B355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EF5D9B-E62A-485C-A404-730FD6AC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진단 실행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7729D8-9729-4ACE-9782-337E0D690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 관리창에서 ‘접속·오류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점검’을 누릅니다. 저장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폴더와 서버 응답 결과를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D00F25-23E2-4B80-905F-C4BA28AD0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다른 PC에서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907AFB-9DA6-4708-8DC0-03B27761E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 IP와 해당 과정의 TCP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포트, 교육장 방화벽 설정을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3449c568604f68"/>
          <a:stretch xmlns:a="http://schemas.openxmlformats.org/drawingml/2006/main"/>
        </p:blipFill>
        <p:spPr>
          <a:xfrm xmlns:a="http://schemas.openxmlformats.org/drawingml/2006/main">
            <a:off x="5130511" y="1476375"/>
            <a:ext cx="907472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B9BDB2-9293-4A9E-A9A9-7D9EA4C7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127.0.0.1은 다른 PC에 안내할 주소로 사용할 수 없습니다. 이 진단만으로 교실 네트워크 연결을 보장하지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7462360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0751D1-5AED-4215-A18B-87ED61EE2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관리자 로그인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80A880-187D-4D19-B1D3-23DB6CEDF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C811C4-0794-464A-A8A7-297A3C042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계정 입력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EF6939-90EF-4BB1-9AE4-3B44AA15A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과정 생성 시 정한 관리자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ID와 비밀번호를 입력합니다.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F28030-771B-42C0-86D8-49533491A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접속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C0CBD9-1051-4FE0-AFC9-8C79DEB72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로그인 후 왼쪽에 관리자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메뉴가 보이는지 확인합니다.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540b6fda1647b8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393B19-CDBE-43D4-9964-D54A3680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공통 기본 비밀번호는 없습니다. 과정을 만들 때 입력한 관리자 계정을 사용합니다.</a:t>
            </a:r>
          </a:p>
        </p:txBody>
      </p:sp>
    </p:spTree>
    <p:extLst>
      <p:ext uri="{BB962C8B-B14F-4D97-AF65-F5344CB8AC3E}">
        <p14:creationId xmlns:p14="http://schemas.microsoft.com/office/powerpoint/2010/main" val="206296925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831D6D-A77B-4B4C-B618-DFCBFA837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수업 준비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A90BF2-C0D0-492E-B767-CD55993F0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0D7675-79EE-4895-8693-32545E15D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명단 등록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C6AC03-1CF2-4EE7-B4F0-0F7529274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운영 안내에서 ‘명단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등록·사용자 관리로 이동’을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누릅니다.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5858F5-CD42-420B-9BED-1F2BD55FE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과제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D741F4-610B-4866-B81D-96F0FE459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명단 등록 후 ‘과제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관리’에서 수업에 사용할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과제와 접수 상태를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d7a6fee8424c65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E4EEB5-4E8F-4AEC-B431-70E904E2C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예시 수업은 ‘파이썬 기초 실습’, 학생은 템플릿의 001과 002를 사용합니다.</a:t>
            </a:r>
          </a:p>
        </p:txBody>
      </p:sp>
    </p:spTree>
    <p:extLst>
      <p:ext uri="{BB962C8B-B14F-4D97-AF65-F5344CB8AC3E}">
        <p14:creationId xmlns:p14="http://schemas.microsoft.com/office/powerpoint/2010/main" val="8237031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2FDB5B-DEB1-4DEC-9541-398F01862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엑셀 명단 미리보기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9ACB65-A036-4D75-91A7-962A941FF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8D40E5-F226-43A8-B22E-DA6E95258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템플릿 작성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D1059D-2B55-4CBD-B54E-6C23E1917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users 시트의 user_id와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name을 입력합니다. group은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선택이며 001 같은 ID는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텍스트로 유지합니다.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846E23-24DF-4125-AD67-BD3024096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등록 전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924896-F13E-42DD-82AA-41B95368A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파일을 올리고 ‘명단 검증 및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미리보기’를 누릅니다.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오류가 없으면 ‘검증된 명단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반영’을 누릅니다.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505a7af24a44ab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180CDC-E719-49B1-B389-4CBC48717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배포 템플릿의 001, 002는 예시입니다. 실제 사용 시 예시 행을 실제 명단으로 교체하세요.</a:t>
            </a:r>
          </a:p>
        </p:txBody>
      </p:sp>
    </p:spTree>
    <p:extLst>
      <p:ext uri="{BB962C8B-B14F-4D97-AF65-F5344CB8AC3E}">
        <p14:creationId xmlns:p14="http://schemas.microsoft.com/office/powerpoint/2010/main" val="179804268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344A80-5A53-4FD8-BA87-814C0026F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계정 등록과 비밀번호 전달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AEFAF1-1DC6-4413-B776-3403359BC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075FF2-CA3C-4CEF-9062-1527AE53B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임시비밀번호 보관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ADBC22-665E-42D9-9AD3-26F6D2D24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등록 직후 임시비밀번호 결과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CSV를 내려받고 학생별로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안전하게 전달합니다. 결과를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닫으면 다시 조회할 수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없습니다.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3A1DA3-3F96-4DB7-8C9C-C718988FC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등록 결과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DCDBFD-C605-4BFE-9D3E-9F1BD77CC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사용자 목록에서 ID, 이름,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활성 상태를 확인합니다.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잊은 비밀번호는 관리자가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초기화합니다.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bd96202e96495d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AC4420-BF0F-4D43-BD1C-CEA1A14F9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캡처는 비밀번호 결과를 닫은 뒤의 화면입니다. 재등록만으로 기존 비밀번호와 제출 기록이 바뀌지는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80894781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03F56E-9BD5-4F26-BD82-D81DCFF9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 만들기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07EA5B-FAD9-4EFD-BBE0-4B03422E7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86A71F-6BA6-4242-BDC6-3894FF76A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과제 입력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9C0CEA-D582-4E37-9F51-078731755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 관리에서 ‘새 과제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추가’를 펼칩니다. 예시는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‘1주차 실습 과제’입니다.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02EF69-5CB2-4A31-9FC0-FB33DE647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접수 시작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82EBDB-9ACE-411D-A27A-31DE760C4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설명을 입력하고 ‘즉시 접수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시작’을 확인한 뒤 ‘과제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추가’를 누릅니다.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6eda3a0c254290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E630A1-D27C-4E70-87B6-C8CB0DF57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기본 과제를 수정해서 사용해도 됩니다. 여러 과제를 운영할 때는 학생에게 정확한 과제명을 안내하세요.</a:t>
            </a:r>
          </a:p>
        </p:txBody>
      </p:sp>
    </p:spTree>
    <p:extLst>
      <p:ext uri="{BB962C8B-B14F-4D97-AF65-F5344CB8AC3E}">
        <p14:creationId xmlns:p14="http://schemas.microsoft.com/office/powerpoint/2010/main" val="36172983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650562-F61F-4C82-AC57-30B8F2F17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학생의 첫 로그인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DAFA75-6ACA-4C73-8CDD-F9014ADC7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2797DC-3087-44E7-AA54-A338CD11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임시비밀번호 사용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AB46FF-BE9F-4918-823F-0C30BA524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학생은 전달받은 ID와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임시비밀번호로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로그인합니다. 예시 ID는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001입니다.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854FAA-2474-485C-9E4D-354EE8BB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새 비밀번호 설정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B27F5D-AFAB-4C15-92CD-6D9FEF1E5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현재 임시비밀번호와 새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비밀번호를 입력합니다. 변경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후 새 비밀번호로 다시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로그인합니다.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214e70e7914f5b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9E1BC7-93FC-4785-AC8B-3F1FC0EA9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비밀번호는 12~128자이며 현재 값과 달라야 합니다. 변경을 마쳐야 과제를 제출할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85512528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9BFBC7-EF88-42D3-B10E-924667245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학생의 제출 화면 연결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16B4FA-2BE9-4A33-9F09-5F2D294C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BEBF41-5B17-4F57-8A5B-AE556A7AD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연결 코드 발급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0241E4-6AEE-479F-95D3-A8F222816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‘일회용 연결 코드 발급’을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누르고 코드를 복사합니다.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D4C40B-9DF6-4089-BB08-82CFD5893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제출 창 열기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04A30C-F771-4E0E-9C22-BCB01D095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‘파일 제출·이어 올리기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화면 열기’를 누릅니다.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다음 화면에서 코드를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입력합니다.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0bd5127f0940c4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12DB03-AA93-4118-9B94-450BC4F84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코드는 120초 동안 한 번만 사용할 수 있습니다. 캡처에서는 코드 영역을 가렸습니다.</a:t>
            </a:r>
          </a:p>
        </p:txBody>
      </p:sp>
    </p:spTree>
    <p:extLst>
      <p:ext uri="{BB962C8B-B14F-4D97-AF65-F5344CB8AC3E}">
        <p14:creationId xmlns:p14="http://schemas.microsoft.com/office/powerpoint/2010/main" val="51060756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FB4BE5-561B-4883-9156-7AC992F7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 창 로그인 방법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90D5A9-A68F-433D-AB6F-2ED5D184C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44F342-004F-43AB-A462-5560E271F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코드로 연결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2B014E-2F68-42AF-A9DA-DDE0B78B3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복사한 코드를 입력하고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‘코드로 연결’을 누릅니다.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522650-908F-4EC3-BF05-5C5D25FE0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계정으로 연결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409B39-759C-44B6-A9A1-7D8081722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코드가 만료되었거나 창을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다시 열었다면 같은 학생 ID와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새 비밀번호로 로그인해도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ec0bacabd04b7b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3ABCED-C9D3-41A7-B3DD-61AE48315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다른 사람의 계정이나 연결 코드를 사용하지 마세요. 로그인 후 이름과 ID를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205302043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F29CBE-1FC7-4105-93BD-E243A8137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과제와 파일 선택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993367-15E8-4606-B215-5B5B8D4F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837E1D-5B04-4D3A-9FBF-A9DC6961C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과제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502F60-9AD3-4A9E-9B79-5789A1F0E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제출할 과제를 ‘1주차 실습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과제’로 선택합니다.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F9C084-E9A9-4DEA-B7BA-13F88B4F6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파일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C735B4-9451-4A3E-B3C9-9A9CCC9A9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제출할 파일을 선택하고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이름, 개수, 총용량을 확인한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뒤 ‘제출 시작’을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누릅니다.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e75b7ee4564c56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D756EF-4275-4EFA-BBB7-83E4351C2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선택한 파일 전체가 하나의 제출 묶음입니다. 오른쪽에서 나의 사용량과 파일당 한도를 확인할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75008079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C1C303-C36B-48ED-B67F-9B987BE1F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전송 중단 상태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17F060-D94E-481E-9576-385498992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4CAD71-3E5D-4214-B3D3-34E9293BC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전송 상태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9EA8DA-7EFB-4A79-93B1-26989A026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예시에서는 전송 도중 연결을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끊고 일시 중지했습니다.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서버가 확정한 수신량을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6004EF-E113-4744-83B7-7E0436574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창을 유지한 경우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0C18C8-73C3-4913-BB35-7BD67F46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네트워크를 복구한 뒤 ‘다시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시도’를 누릅니다. 완료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전까지 원본 파일을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보관합니다.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dbb76633b443eb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34F519-796D-47BD-8382-94A28DB78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전송 중이거나 일시 중지된 작업은 제출 완료로 집계하지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39205905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31E435-08D1-4093-88B7-17068AE00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새로고침 후 이어 올리기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80D0-7926-492E-8E0C-0A5971AA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95F3FE-F08A-4E36-830E-588DD6A21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기존 작업 선택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436AC0-E9FC-4905-92F6-3583D92B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다시 로그인하고 ‘이어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올리기’ 영역에서 ‘이 작업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이어 올리기’를 누릅니다.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좁은 화면에서는 아래로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스크롤합니다.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996F12-D036-46DB-BCC6-7AD8C1D6A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원본 다시 선택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E1A026-DF79-4CC9-AF6A-71E8C11A0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처음 선택한 파일을 모두 다시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선택하고 ‘확인 후 이어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올리기’를 누릅니다.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9bb23f60bb42a9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23A1DE-7161-4D02-BC5F-C73593B1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파일 이름만 같아서는 안 됩니다. 내용이 바뀌었다면 새 제출로 시작해야 합니다. 기본 보관 시간은 24시간입니다.</a:t>
            </a:r>
          </a:p>
        </p:txBody>
      </p:sp>
    </p:spTree>
    <p:extLst>
      <p:ext uri="{BB962C8B-B14F-4D97-AF65-F5344CB8AC3E}">
        <p14:creationId xmlns:p14="http://schemas.microsoft.com/office/powerpoint/2010/main" val="206306981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348621-E0E2-41C2-BD79-B6676BB0A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 완료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964679-2A21-4DD9-818A-4F99FDAAC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D213DE-CF09-494C-A769-7D5C31D93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완료 안내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9D0293-B61A-4B9A-AAD6-A8E0EB6BE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‘제출이 완료되었습니다.’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안내와 제출번호가 나타날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때까지 기다립니다.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68D862-F171-429E-8696-C88EA676F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제출 정보 기록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EB572E-1B0D-47B8-AC78-A3E145908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과제명, 파일명, 완료 시각을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 문의할 때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제출번호를 함께 전달합니다.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7dfb59903844a6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603CC7-405D-4AD0-9454-759955816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전송량이 100%여도 검증과 저장이 남아 있을 수 있습니다. 제출번호가 나온 묶음을 완료로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86665631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C5D4D2-D1FB-41D2-8F02-D89EB4DE3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내 제출 이력과 다운로드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8E15D8-22FA-4CBD-AFC8-21C4E7386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2511B0-65A7-42F3-80AE-19BFBB878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이력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02AA2A-566F-4938-B3D1-8A8642AF5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‘완료된 제출 이력’에서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과제명과 제출번호, 버전을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5B0DF9-2DF9-417A-A9A1-2A8E25685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파일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951B5D-9781-49AD-AC5E-2D456BBBB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파일 옆 ‘다운로드’를 눌러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저장된 파일을 내려받습니다.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다시 제출한 파일은 새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버전으로 남습니다.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c54abb1311458b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443B10-C073-4B3A-90D1-D9F23766E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이 예시에서는 실제 파일을 내려받아 원본과 내용이 같은지 확인했습니다.</a:t>
            </a:r>
          </a:p>
        </p:txBody>
      </p:sp>
    </p:spTree>
    <p:extLst>
      <p:ext uri="{BB962C8B-B14F-4D97-AF65-F5344CB8AC3E}">
        <p14:creationId xmlns:p14="http://schemas.microsoft.com/office/powerpoint/2010/main" val="34423647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CC6EB4-0250-4692-A9BE-74CBDB2A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관리자의 제출 현황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B10BFE-DFD0-48D6-A673-392A45AC8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17B2A7-905F-41DC-9C67-8A6D1C71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과제 선택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2E530F-2F36-4447-95CC-1FD67719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‘제출 현황’에서 ‘1주차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실습 과제’를 선택합니다.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예시는 대상 2명 중 1명이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제출한 상태입니다.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14A46C-0115-48EE-B753-1818FE005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후속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E06057-CBE4-4AC3-973D-A1523C052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미제출자 필터로 안내 대상을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찾습니다. 아래 완료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제출물을 펼쳐 파일과 보존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버전을 확인합니다.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3812fad571415c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947971-9820-45F8-9FD9-C5610EFF9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한 학생이 여러 번 제출해도 제출자는 1명으로 셉니다. CSV 준비 버튼으로 현황을 내려받을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42055743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C968E7-E6D7-4F36-92FB-D88AB51D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저장 공간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A24084-1F25-4BED-B4B6-011140E7A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C6F61E-2C12-46D5-9E36-D973400E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사용량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81BCBE-C75B-4D84-838F-C442207FD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‘저장 공간·기록’에서 완료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사용량과 진행 중 예약 용량,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디스크 여유 공간을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5EA7D2-5134-44D2-81D8-5377C4F25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공간 부족 대응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97240B-E6A5-441B-BA5A-7D68C0314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미완료 작업 상태를 확인하고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필요하면 학생이 해당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업로드를 취소합니다. 한도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변경은 서버 중지 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진행합니다.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69c74b1ea34e20"/>
          <a:stretch xmlns:a="http://schemas.openxmlformats.org/drawingml/2006/main"/>
        </p:blipFill>
        <p:spPr>
          <a:xfrm xmlns:a="http://schemas.openxmlformats.org/drawingml/2006/main">
            <a:off x="5231342" y="1476375"/>
            <a:ext cx="8873067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6AD5B8-19BE-46A0-A92C-496AAC99F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완료된 제출물은 자동 삭제하지 않습니다. 저장 폴더의 파일을 임의로 옮기거나 삭제하지 마세요.</a:t>
            </a:r>
          </a:p>
        </p:txBody>
      </p:sp>
    </p:spTree>
    <p:extLst>
      <p:ext uri="{BB962C8B-B14F-4D97-AF65-F5344CB8AC3E}">
        <p14:creationId xmlns:p14="http://schemas.microsoft.com/office/powerpoint/2010/main" val="152327953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F9A4D8-3AF0-414D-821A-ECCEC695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수업 종료와 서버 중지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23DAA3-3A2C-4074-82A6-D47CA01E4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D4E4B7-82D0-4DE3-97B1-E6D2B7FE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작업 마무리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A880C3-5F7D-4F1D-8E9A-18344C19D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학생에게 전송 종료를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안내하고 제출 현황을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721B7C-2C41-45C7-BA91-96980FEAD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서버 중지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CED268-3D8F-4745-BC5E-9594ED6EB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 관리창에서 해당 과정을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선택한 뒤 ‘서버 중지’를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누릅니다. 중지 상태를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cc18ed4e834f75"/>
          <a:stretch xmlns:a="http://schemas.openxmlformats.org/drawingml/2006/main"/>
        </p:blipFill>
        <p:spPr>
          <a:xfrm xmlns:a="http://schemas.openxmlformats.org/drawingml/2006/main">
            <a:off x="5152900" y="1476375"/>
            <a:ext cx="9029951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438DC4-5C1E-4851-A9A6-727B40380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관리창의 닫기 버튼만 누르면 서버는 계속 실행됩니다. 다음 수업은 관리창을 다시 열고 서버를 시작하세요.</a:t>
            </a:r>
          </a:p>
        </p:txBody>
      </p:sp>
    </p:spTree>
    <p:extLst>
      <p:ext uri="{BB962C8B-B14F-4D97-AF65-F5344CB8AC3E}">
        <p14:creationId xmlns:p14="http://schemas.microsoft.com/office/powerpoint/2010/main" val="200074045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3A3DF2-37F9-4428-AAD6-8BBB8BD73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중지 후 백업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F8DA37-E5FB-474A-8227-B13F5580F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AEC477-0849-4271-A18D-11CCE2C4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1. 중지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DCC059-7D07-4DEF-94C4-F1571A1B2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 관리창에서 해당 과정이 중지 상태인지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C6AC7-B29C-48D6-81FC-8F1341188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28800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2. 함께 복사할 항목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31CA42-7CC6-45EB-88B8-B59DE410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62225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instances의 과정 설정 JSON과 해당 과정의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저장 폴더 전체를 함께 복사합니다. 저장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폴더에는 DB, 인증 정보와 제출물이 들어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있습니다.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F5926F-7D21-485E-B3D0-7CD6FC17C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3. 별도 위치에 보관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18CB79-5FDE-41E5-A0E8-AD1E42B8C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날짜별 백업 폴더를 사용하고 접근 권한을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제한합니다. 완료 제출물만 골라 복사하면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계정과 제출 이력을 함께 복구할 수 없습니다.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8B8F2D-2DE8-42D2-A45F-D0FFA99E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19625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4. 복원 시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B1911F-CC67-48BF-A3EA-56CCE6626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353050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운영 문서의 복원 절차를 따릅니다. 기존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서버와 복원 서버가 같은 저장 폴더를 동시에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사용하지 않도록 합니다.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6428F7-F03F-45DA-AE32-26246EDB4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39075"/>
            <a:ext cx="13239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실제 명단, 비밀번호 CSV, 데이터 폴더와 백업 파일은 GitHub에 올리지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60485966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3E9E45-2CC8-4942-B3FE-8AD5C9068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자주 생기는 상황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DAF779-2F10-47ED-9AF4-90EE4EB5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797A0D-B68C-4C91-9EC5-EFA51BB3C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로그인이 안 될 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CAB15F-662F-471B-88D1-20A0C75B3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과정 주소와 ID를 확인합니다. 비밀번호를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잊었다면 관리자에게 초기화를 요청합니다.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432F5E-27FD-4420-AFBC-0721687BA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28800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다른 PC에서 접속이 안 될 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1EBD33-D08E-491B-B936-1CCA8FDC5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62225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서버 IP와 포트를 확인하고 서버 관리창의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접속 점검을 실행합니다. 127.0.0.1은 서버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자체 접속용입니다.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F88664-DE43-4512-833D-AD928FA9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업로드를 이어 갈 수 없을 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7F3FE2-1839-48B9-B26A-180B79538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같은 계정과 원본 파일을 사용했는지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확인합니다. 취소하거나 보관 기간이 지난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작업은 새로 제출합니다.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A44A6C-0AE2-4AB2-A5C4-188473F1F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19625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화면과 상세 안내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599DE2-3554-4046-85F9-49F91F9B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353050"/>
            <a:ext cx="6286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README.md에서 설치 방법을,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docs/admin-guide.md와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docs/user-guide.md에서 세부 운영 절차를</a:t>
            </a:r>
          </a:p>
          <a:p xmlns:a="http://schemas.openxmlformats.org/drawingml/2006/main">
            <a:pPr>
              <a:def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확인할 수 있습니다.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32B4A5-6066-4F64-A82E-9CE62F986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39075"/>
            <a:ext cx="13239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교실의 다른 PC 접속과 TLS 인증서 운영은 환경에 맞게 별도로 확인해야 합니다.</a:t>
            </a:r>
          </a:p>
        </p:txBody>
      </p:sp>
    </p:spTree>
    <p:extLst>
      <p:ext uri="{BB962C8B-B14F-4D97-AF65-F5344CB8AC3E}">
        <p14:creationId xmlns:p14="http://schemas.microsoft.com/office/powerpoint/2010/main" val="194241030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4B734A-FC94-43A3-9E32-54F556C88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작은 서버 관리창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5D0706-3F63-406F-B1BF-1B61CC972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DEBC0A-5F18-4FE2-86A3-2480DC630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창 크기 조절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55BEE7-6702-4621-BAF6-4BE939D0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관리창을 좁히면 실행 버튼이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두 줄로 배치됩니다. 주소는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입력 영역에서 선택하거나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주소 복사로 가져옵니다.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C2EB81-E7D2-4E9E-A500-31C5A8F72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아래 영역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E5B29C-2302-4DC4-84AD-7A0742B9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높이가 부족하면 오른쪽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스크롤바나 마우스 휠로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이동합니다. 서버 시작과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중지 버튼은 같은 순서를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유지합니다.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9e7e5071f94427"/>
          <a:stretch xmlns:a="http://schemas.openxmlformats.org/drawingml/2006/main"/>
        </p:blipFill>
        <p:spPr>
          <a:xfrm xmlns:a="http://schemas.openxmlformats.org/drawingml/2006/main">
            <a:off x="5828567" y="1476375"/>
            <a:ext cx="7678615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EBF2A4-7A05-4786-A5D8-7CFB6F78C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예시는 640 × 520 크기의 관리창입니다. 과정 설정 창에서도 스크롤과 Tab 키로 입력란을 이동할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84584997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6A8995-54A4-4B59-B589-56CA5D2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좁은 화면의 파일 제출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833F21-C83D-4CBE-8521-35937FC31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1A79CB-79DF-4B4A-8629-F1075141B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파일 선택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2047A2-40E0-4373-A90A-AEAB78082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파일 선택 버튼으로 원본을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선택합니다. PC에서는 파일을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선택 영역으로 끌어 놓을 수도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있습니다.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DFFB9E-DC8B-4858-84F7-785B64B11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용량과 이어 올리기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98E998-0A99-415D-AB3A-CE50F39A8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화면이 좁으면 저장 용량과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이어 올리기가 선택 영역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아래에 나타납니다. 아래로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스크롤해 확인합니다.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42ee09494249d5"/>
          <a:stretch xmlns:a="http://schemas.openxmlformats.org/drawingml/2006/main"/>
        </p:blipFill>
        <p:spPr>
          <a:xfrm xmlns:a="http://schemas.openxmlformats.org/drawingml/2006/main">
            <a:off x="8345505" y="1476375"/>
            <a:ext cx="2644740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DDC1DC-F6E1-474C-9E58-B0A6F300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예시는 브라우저 폭 390px입니다. 파일을 선택한 뒤 제출 시작을 눌러야 전송합니다.</a:t>
            </a:r>
          </a:p>
        </p:txBody>
      </p:sp>
    </p:spTree>
    <p:extLst>
      <p:ext uri="{BB962C8B-B14F-4D97-AF65-F5344CB8AC3E}">
        <p14:creationId xmlns:p14="http://schemas.microsoft.com/office/powerpoint/2010/main" val="84974166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63B8AF-9765-40E3-8BF5-E91F1E355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366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창 크기에 맞춘 제출 현황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B7983F-F62F-4E3E-B487-7CDEC817A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7905750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284DA8-8846-4859-AEB9-AF61BB16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메뉴와 현황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1B2E17-D46E-4D3B-B36E-71BD4213C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작은 화면에서는 왼쪽 위의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메뉴 열기 버튼으로 관리자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메뉴를 펼칩니다. 수치와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입력란은 창 너비에 맞춰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재배치됩니다.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65A38B-09EF-45B8-86B0-F7476720E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F46E5"/>
                </a:solidFill>
                <a:latin typeface="Malgun Gothic"/>
                <a:ea typeface="Malgun Gothic"/>
                <a:cs typeface="Malgun Gothic"/>
              </a:rPr>
              <a:t>표의 나머지 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137322-0C68-460F-BDBA-DB710AA2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905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표가 화면보다 넓으면 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안에서 가로로 스크롤합니다.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상세 제출 이력은 아래쪽에서</a:t>
            </a:r>
          </a:p>
          <a:p xmlns:a="http://schemas.openxmlformats.org/drawingml/2006/main">
            <a:pPr>
              <a:def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539"/>
                </a:solidFill>
                <a:latin typeface="Malgun Gothic"/>
                <a:ea typeface="Malgun Gothic"/>
                <a:cs typeface="Malgun Gothic"/>
              </a:rPr>
              <a:t>펼쳐 확인합니다.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39dac858354fa5"/>
          <a:stretch xmlns:a="http://schemas.openxmlformats.org/drawingml/2006/main"/>
        </p:blipFill>
        <p:spPr>
          <a:xfrm xmlns:a="http://schemas.openxmlformats.org/drawingml/2006/main">
            <a:off x="7328297" y="1476375"/>
            <a:ext cx="4679156" cy="6238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56E2F3-CCEF-4930-BCB4-7899B6E00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77175"/>
            <a:ext cx="1328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47087"/>
                </a:solidFill>
                <a:latin typeface="Malgun Gothic"/>
                <a:ea typeface="Malgun Gothic"/>
                <a:cs typeface="Malgun Gothic"/>
              </a:rPr>
              <a:t>예시는 브라우저 폭 768px입니다. 같은 메뉴와 기능을 창 크기에 맞춰 사용할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0354661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2026-09-07T18:55:09.0630000Z</dcterms:created>
  <dcterms:modified xsi:type="dcterms:W3CDTF">2026-09-07T18:55:09.0630000Z</dcterms:modified>
</coreProperties>
</file>