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7db09d26c74b58" /><Relationship Type="http://schemas.openxmlformats.org/officeDocument/2006/relationships/extended-properties" Target="/docProps/app.xml" Id="Rfcf8426e8c7849cd" /><Relationship Type="http://schemas.openxmlformats.org/officeDocument/2006/relationships/officeDocument" Target="/ppt/presentation.xml" Id="R1e41314b63e040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fdd1c2c685421e"/>
  </p:sldMasterIdLst>
  <p:notesMasterIdLst>
    <p:notesMasterId xmlns:r="http://schemas.openxmlformats.org/officeDocument/2006/relationships" r:id="R94a081f83a634ce6"/>
  </p:notesMasterIdLst>
  <p:sldIdLst>
    <p:sldId xmlns:r="http://schemas.openxmlformats.org/officeDocument/2006/relationships" id="256" r:id="R1f10c1f33c9d4e0c"/>
    <p:sldId xmlns:r="http://schemas.openxmlformats.org/officeDocument/2006/relationships" id="257" r:id="Rbc7c26a3c59a4736"/>
    <p:sldId xmlns:r="http://schemas.openxmlformats.org/officeDocument/2006/relationships" id="258" r:id="Re8df6c19dc224019"/>
    <p:sldId xmlns:r="http://schemas.openxmlformats.org/officeDocument/2006/relationships" id="259" r:id="R658d2fffb9af42a7"/>
    <p:sldId xmlns:r="http://schemas.openxmlformats.org/officeDocument/2006/relationships" id="260" r:id="Rdca8b8468339414a"/>
    <p:sldId xmlns:r="http://schemas.openxmlformats.org/officeDocument/2006/relationships" id="261" r:id="R07ec6eb305454a60"/>
    <p:sldId xmlns:r="http://schemas.openxmlformats.org/officeDocument/2006/relationships" id="262" r:id="R5f3b2e2b0cc04114"/>
    <p:sldId xmlns:r="http://schemas.openxmlformats.org/officeDocument/2006/relationships" id="263" r:id="R2836d5855218404d"/>
    <p:sldId xmlns:r="http://schemas.openxmlformats.org/officeDocument/2006/relationships" id="264" r:id="R5503b1d1f8b0445c"/>
    <p:sldId xmlns:r="http://schemas.openxmlformats.org/officeDocument/2006/relationships" id="265" r:id="R5d1f33f15c7e43e3"/>
    <p:sldId xmlns:r="http://schemas.openxmlformats.org/officeDocument/2006/relationships" id="266" r:id="R81e4820684fc495b"/>
    <p:sldId xmlns:r="http://schemas.openxmlformats.org/officeDocument/2006/relationships" id="267" r:id="R0318fc50de8349ae"/>
    <p:sldId xmlns:r="http://schemas.openxmlformats.org/officeDocument/2006/relationships" id="268" r:id="R1d89ff18d26a49d1"/>
    <p:sldId xmlns:r="http://schemas.openxmlformats.org/officeDocument/2006/relationships" id="269" r:id="Rc44c333705384cb8"/>
    <p:sldId xmlns:r="http://schemas.openxmlformats.org/officeDocument/2006/relationships" id="270" r:id="R9386a03da9a84ed1"/>
    <p:sldId xmlns:r="http://schemas.openxmlformats.org/officeDocument/2006/relationships" id="271" r:id="R7d245de278414a69"/>
    <p:sldId xmlns:r="http://schemas.openxmlformats.org/officeDocument/2006/relationships" id="272" r:id="Rfb9b751d9e1b4870"/>
    <p:sldId xmlns:r="http://schemas.openxmlformats.org/officeDocument/2006/relationships" id="273" r:id="R127ca9151f5f4b69"/>
    <p:sldId xmlns:r="http://schemas.openxmlformats.org/officeDocument/2006/relationships" id="274" r:id="Rcb86c2d76e0a4038"/>
    <p:sldId xmlns:r="http://schemas.openxmlformats.org/officeDocument/2006/relationships" id="275" r:id="R8252078d7494473c"/>
    <p:sldId xmlns:r="http://schemas.openxmlformats.org/officeDocument/2006/relationships" id="276" r:id="R0d6b37d868c244dc"/>
    <p:sldId xmlns:r="http://schemas.openxmlformats.org/officeDocument/2006/relationships" id="277" r:id="Rc673f72698934712"/>
    <p:sldId xmlns:r="http://schemas.openxmlformats.org/officeDocument/2006/relationships" id="278" r:id="Rb5a708ac46ca4d64"/>
    <p:sldId xmlns:r="http://schemas.openxmlformats.org/officeDocument/2006/relationships" id="279" r:id="Rb02b0158c36d4e2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b6d9d81d094408" /><Relationship Type="http://schemas.openxmlformats.org/officeDocument/2006/relationships/slideMaster" Target="/ppt/slideMasters/slideMaster1.xml" Id="R78fdd1c2c685421e" /><Relationship Type="http://schemas.openxmlformats.org/officeDocument/2006/relationships/notesMaster" Target="/ppt/notesMasters/notesMaster1.xml" Id="R94a081f83a634ce6" /><Relationship Type="http://schemas.openxmlformats.org/officeDocument/2006/relationships/presProps" Target="/ppt/presProps.xml" Id="R2b7ad8b4e7834b1c" /><Relationship Type="http://schemas.openxmlformats.org/officeDocument/2006/relationships/tableStyles" Target="/ppt/tableStyles.xml" Id="R470e10528a344e73" /><Relationship Type="http://schemas.openxmlformats.org/officeDocument/2006/relationships/slide" Target="/ppt/slides/slide1.xml" Id="R1f10c1f33c9d4e0c" /><Relationship Type="http://schemas.openxmlformats.org/officeDocument/2006/relationships/slide" Target="/ppt/slides/slide2.xml" Id="Rbc7c26a3c59a4736" /><Relationship Type="http://schemas.openxmlformats.org/officeDocument/2006/relationships/slide" Target="/ppt/slides/slide3.xml" Id="Re8df6c19dc224019" /><Relationship Type="http://schemas.openxmlformats.org/officeDocument/2006/relationships/slide" Target="/ppt/slides/slide4.xml" Id="R658d2fffb9af42a7" /><Relationship Type="http://schemas.openxmlformats.org/officeDocument/2006/relationships/slide" Target="/ppt/slides/slide5.xml" Id="Rdca8b8468339414a" /><Relationship Type="http://schemas.openxmlformats.org/officeDocument/2006/relationships/slide" Target="/ppt/slides/slide6.xml" Id="R07ec6eb305454a60" /><Relationship Type="http://schemas.openxmlformats.org/officeDocument/2006/relationships/slide" Target="/ppt/slides/slide7.xml" Id="R5f3b2e2b0cc04114" /><Relationship Type="http://schemas.openxmlformats.org/officeDocument/2006/relationships/slide" Target="/ppt/slides/slide8.xml" Id="R2836d5855218404d" /><Relationship Type="http://schemas.openxmlformats.org/officeDocument/2006/relationships/slide" Target="/ppt/slides/slide9.xml" Id="R5503b1d1f8b0445c" /><Relationship Type="http://schemas.openxmlformats.org/officeDocument/2006/relationships/slide" Target="/ppt/slides/slide10.xml" Id="R5d1f33f15c7e43e3" /><Relationship Type="http://schemas.openxmlformats.org/officeDocument/2006/relationships/slide" Target="/ppt/slides/slide11.xml" Id="R81e4820684fc495b" /><Relationship Type="http://schemas.openxmlformats.org/officeDocument/2006/relationships/slide" Target="/ppt/slides/slide12.xml" Id="R0318fc50de8349ae" /><Relationship Type="http://schemas.openxmlformats.org/officeDocument/2006/relationships/slide" Target="/ppt/slides/slide13.xml" Id="R1d89ff18d26a49d1" /><Relationship Type="http://schemas.openxmlformats.org/officeDocument/2006/relationships/slide" Target="/ppt/slides/slide14.xml" Id="Rc44c333705384cb8" /><Relationship Type="http://schemas.openxmlformats.org/officeDocument/2006/relationships/slide" Target="/ppt/slides/slide15.xml" Id="R9386a03da9a84ed1" /><Relationship Type="http://schemas.openxmlformats.org/officeDocument/2006/relationships/slide" Target="/ppt/slides/slide16.xml" Id="R7d245de278414a69" /><Relationship Type="http://schemas.openxmlformats.org/officeDocument/2006/relationships/slide" Target="/ppt/slides/slide17.xml" Id="Rfb9b751d9e1b4870" /><Relationship Type="http://schemas.openxmlformats.org/officeDocument/2006/relationships/slide" Target="/ppt/slides/slide18.xml" Id="R127ca9151f5f4b69" /><Relationship Type="http://schemas.openxmlformats.org/officeDocument/2006/relationships/slide" Target="/ppt/slides/slide19.xml" Id="Rcb86c2d76e0a4038" /><Relationship Type="http://schemas.openxmlformats.org/officeDocument/2006/relationships/slide" Target="/ppt/slides/slide20.xml" Id="R8252078d7494473c" /><Relationship Type="http://schemas.openxmlformats.org/officeDocument/2006/relationships/slide" Target="/ppt/slides/slide21.xml" Id="R0d6b37d868c244dc" /><Relationship Type="http://schemas.openxmlformats.org/officeDocument/2006/relationships/slide" Target="/ppt/slides/slide22.xml" Id="Rc673f72698934712" /><Relationship Type="http://schemas.openxmlformats.org/officeDocument/2006/relationships/slide" Target="/ppt/slides/slide23.xml" Id="Rb5a708ac46ca4d64" /><Relationship Type="http://schemas.openxmlformats.org/officeDocument/2006/relationships/slide" Target="/ppt/slides/slide24.xml" Id="Rb02b0158c36d4e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a655f8ae3b47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7fbe002eb34ef1" /><Relationship Type="http://schemas.openxmlformats.org/officeDocument/2006/relationships/notesMaster" Target="/ppt/notesMasters/notesMaster1.xml" Id="R27c1f4ba98f045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010281598a4bd9" /><Relationship Type="http://schemas.openxmlformats.org/officeDocument/2006/relationships/notesMaster" Target="/ppt/notesMasters/notesMaster1.xml" Id="Rc8dca8954ea74b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54bcb8ab694fa0" /><Relationship Type="http://schemas.openxmlformats.org/officeDocument/2006/relationships/notesMaster" Target="/ppt/notesMasters/notesMaster1.xml" Id="R89cefba924454d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d55d24e8f845fc" /><Relationship Type="http://schemas.openxmlformats.org/officeDocument/2006/relationships/notesMaster" Target="/ppt/notesMasters/notesMaster1.xml" Id="R0c331e65403b47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663e8376e549d3" /><Relationship Type="http://schemas.openxmlformats.org/officeDocument/2006/relationships/notesMaster" Target="/ppt/notesMasters/notesMaster1.xml" Id="R70c577cba64647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f7bf464d244207" /><Relationship Type="http://schemas.openxmlformats.org/officeDocument/2006/relationships/notesMaster" Target="/ppt/notesMasters/notesMaster1.xml" Id="Rbf08183e556e4c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b7a80936c3435e" /><Relationship Type="http://schemas.openxmlformats.org/officeDocument/2006/relationships/notesMaster" Target="/ppt/notesMasters/notesMaster1.xml" Id="R4abf426403bf46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780aceac604ed5" /><Relationship Type="http://schemas.openxmlformats.org/officeDocument/2006/relationships/notesMaster" Target="/ppt/notesMasters/notesMaster1.xml" Id="R310845fa3e094e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25b031a9dc4ec4" /><Relationship Type="http://schemas.openxmlformats.org/officeDocument/2006/relationships/notesMaster" Target="/ppt/notesMasters/notesMaster1.xml" Id="R1d2558c6c9d742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42caaa6e7c4352" /><Relationship Type="http://schemas.openxmlformats.org/officeDocument/2006/relationships/notesMaster" Target="/ppt/notesMasters/notesMaster1.xml" Id="Rc5047d51e4c349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b2c8766e984568" /><Relationship Type="http://schemas.openxmlformats.org/officeDocument/2006/relationships/notesMaster" Target="/ppt/notesMasters/notesMaster1.xml" Id="Rb8881ac048ab4c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35afbadd9694b13" /><Relationship Type="http://schemas.openxmlformats.org/officeDocument/2006/relationships/notesMaster" Target="/ppt/notesMasters/notesMaster1.xml" Id="Re9cbbb39c2a740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98f441a7ec4cff" /><Relationship Type="http://schemas.openxmlformats.org/officeDocument/2006/relationships/notesMaster" Target="/ppt/notesMasters/notesMaster1.xml" Id="R84e0a38b3d014a7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5f625eee8d1498a" /><Relationship Type="http://schemas.openxmlformats.org/officeDocument/2006/relationships/notesMaster" Target="/ppt/notesMasters/notesMaster1.xml" Id="R45bca0c9dc2f45a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fe61c13ae8e4d30" /><Relationship Type="http://schemas.openxmlformats.org/officeDocument/2006/relationships/notesMaster" Target="/ppt/notesMasters/notesMaster1.xml" Id="R0126b2f3355948e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923c7df91284fa8" /><Relationship Type="http://schemas.openxmlformats.org/officeDocument/2006/relationships/notesMaster" Target="/ppt/notesMasters/notesMaster1.xml" Id="Rececf1b7e8d5446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b1f0f2d21714ee6" /><Relationship Type="http://schemas.openxmlformats.org/officeDocument/2006/relationships/notesMaster" Target="/ppt/notesMasters/notesMaster1.xml" Id="R21d6199c3776418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5141142e423476e" /><Relationship Type="http://schemas.openxmlformats.org/officeDocument/2006/relationships/notesMaster" Target="/ppt/notesMasters/notesMaster1.xml" Id="R966668fb6fee40b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1e7f9ad80e84f38" /><Relationship Type="http://schemas.openxmlformats.org/officeDocument/2006/relationships/notesMaster" Target="/ppt/notesMasters/notesMaster1.xml" Id="Re2aeb3978551450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e244b4b045d49cf" /><Relationship Type="http://schemas.openxmlformats.org/officeDocument/2006/relationships/notesMaster" Target="/ppt/notesMasters/notesMaster1.xml" Id="Rc8d3750ec656438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ea5f0cd60f24177" /><Relationship Type="http://schemas.openxmlformats.org/officeDocument/2006/relationships/notesMaster" Target="/ppt/notesMasters/notesMaster1.xml" Id="R72a6d23b0a544c9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d8b9e23c6474475" /><Relationship Type="http://schemas.openxmlformats.org/officeDocument/2006/relationships/notesMaster" Target="/ppt/notesMasters/notesMaster1.xml" Id="R4f9fbaf818a54b8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37b7e002000402f" /><Relationship Type="http://schemas.openxmlformats.org/officeDocument/2006/relationships/notesMaster" Target="/ppt/notesMasters/notesMaster1.xml" Id="Rcbaf8f789278450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ee13cea15e64b7c" /><Relationship Type="http://schemas.openxmlformats.org/officeDocument/2006/relationships/notesMaster" Target="/ppt/notesMasters/notesMaster1.xml" Id="Rd236407d147544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 운영자는 2~11쪽을 먼저 확인하고, 학생에게는 12~19쪽의 제출 절차를 안내합니다. 이어 올리기 예시는 원본 파일을 그대로 유지한 상태입니다.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실행</a:t>
            </a:r>
          </a:p>
          <a:p xmlns:a="http://schemas.openxmlformats.org/drawingml/2006/main">
            <a:r>
              <a:t>서버 PC에서 start.bat를 두 번 클릭합니다. 처음에는 Python 3.12와 인터넷 연결이 필요합니다.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과정 추가</a:t>
            </a:r>
          </a:p>
          <a:p xmlns:a="http://schemas.openxmlformats.org/drawingml/2006/main">
            <a:r>
              <a:t>‘새 과정 만들기’를 누릅니다. 다음 실행부터는 저장한 과정이 목록에 나타납니다.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설치 오류는 setup.bat의 메시지를 확인하세요. 학생 PC에는 설치하지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기본 정보</a:t>
            </a:r>
          </a:p>
          <a:p xmlns:a="http://schemas.openxmlformats.org/drawingml/2006/main">
            <a:r>
              <a:t>과정명과 저장 폴더를 정합니다. 과정별로 ID, 포트, 저장 폴더를 구분합니다.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관리자 계정</a:t>
            </a:r>
          </a:p>
          <a:p xmlns:a="http://schemas.openxmlformats.org/drawingml/2006/main">
            <a:r>
              <a:t>관리자 ID와 12~128자의 비밀번호를 입력하고 확인란에도 같은 값을 입력합니다.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캡처의 127.0.0.1은 서버 PC 자체 접속용입니다. 교실에서는 학생에게 안내할 서버 IP를 입력하세요.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초기 설정</a:t>
            </a:r>
          </a:p>
          <a:p xmlns:a="http://schemas.openxmlformats.org/drawingml/2006/main">
            <a:r>
              <a:t>파일당 2 GiB, 학생별 누적 10 GiB, 최소 여유 공간 5 GiB가 기본값입니다.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수업에 맞게 조정</a:t>
            </a:r>
          </a:p>
          <a:p xmlns:a="http://schemas.openxmlformats.org/drawingml/2006/main">
            <a:r>
              <a:t>묶음당 파일 수와 미완료 작업 보관 시간을 확인하고 ‘과정 만들기’를 누릅니다.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이전 완료 버전도 학생의 누적 사용량에 포함됩니다. 설정 변경은 서버 중지 후 가능합니다.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 시작</a:t>
            </a:r>
          </a:p>
          <a:p xmlns:a="http://schemas.openxmlformats.org/drawingml/2006/main">
            <a:r>
              <a:t>목록에서 과정을 선택하고 ‘서버 시작’을 누릅니다. 실행 중 상태가 될 때까지 기다립니다.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접속 주소</a:t>
            </a:r>
          </a:p>
          <a:p xmlns:a="http://schemas.openxmlformats.org/drawingml/2006/main">
            <a:r>
              <a:t>‘주소 복사’로 주소를 복사합니다. ‘관리자 화면 열기’로 관리자 화면에 접속합니다.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실제 교실에서는 학생 PC에서 복사한 주소가 열리는지 먼저 확인하세요. 화면의 임의 포트는 예시입니다.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진단 실행</a:t>
            </a:r>
          </a:p>
          <a:p xmlns:a="http://schemas.openxmlformats.org/drawingml/2006/main">
            <a:r>
              <a:t>서버 관리창에서 ‘접속·오류 점검’을 누릅니다. 저장 폴더와 서버 응답 결과를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다른 PC에서 확인</a:t>
            </a:r>
          </a:p>
          <a:p xmlns:a="http://schemas.openxmlformats.org/drawingml/2006/main">
            <a:r>
              <a:t>서버 IP와 해당 과정의 TCP 포트, 교육장 방화벽 설정을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127.0.0.1은 다른 PC에 안내할 주소로 사용할 수 없습니다. 이 진단만으로 교실 네트워크 연결을 보장하지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계정 입력</a:t>
            </a:r>
          </a:p>
          <a:p xmlns:a="http://schemas.openxmlformats.org/drawingml/2006/main">
            <a:r>
              <a:t>과정 생성 시 정한 관리자 ID와 비밀번호를 입력합니다.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접속 확인</a:t>
            </a:r>
          </a:p>
          <a:p xmlns:a="http://schemas.openxmlformats.org/drawingml/2006/main">
            <a:r>
              <a:t>로그인 후 왼쪽에 관리자 메뉴가 보이는지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공통 기본 비밀번호는 없습니다. 과정을 만들 때 입력한 관리자 계정을 사용합니다.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명단 등록</a:t>
            </a:r>
          </a:p>
          <a:p xmlns:a="http://schemas.openxmlformats.org/drawingml/2006/main">
            <a:r>
              <a:t>운영 안내에서 ‘명단 등록·사용자 관리로 이동’을 누릅니다.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과제 확인</a:t>
            </a:r>
          </a:p>
          <a:p xmlns:a="http://schemas.openxmlformats.org/drawingml/2006/main">
            <a:r>
              <a:t>명단 등록 후 ‘과제 관리’에서 수업에 사용할 과제와 접수 상태를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예시 수업은 ‘파이썬 기초 실습’, 학생은 템플릿의 001과 002를 사용합니다.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템플릿 작성</a:t>
            </a:r>
          </a:p>
          <a:p xmlns:a="http://schemas.openxmlformats.org/drawingml/2006/main">
            <a:r>
              <a:t>users 시트의 user_id와 name을 입력합니다. group은 선택이며 001 같은 ID는 텍스트로 유지합니다.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등록 전 확인</a:t>
            </a:r>
          </a:p>
          <a:p xmlns:a="http://schemas.openxmlformats.org/drawingml/2006/main">
            <a:r>
              <a:t>파일을 올리고 ‘명단 검증 및 미리보기’를 누릅니다. 오류가 없으면 ‘검증된 명단 반영’을 누릅니다.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배포 템플릿의 001, 002는 예시입니다. 실제 사용 시 예시 행을 실제 명단으로 교체하세요.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임시비밀번호 보관</a:t>
            </a:r>
          </a:p>
          <a:p xmlns:a="http://schemas.openxmlformats.org/drawingml/2006/main">
            <a:r>
              <a:t>등록 직후 임시비밀번호 결과 CSV를 내려받고 학생별로 안전하게 전달합니다. 결과를 닫으면 다시 조회할 수 없습니다.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등록 결과 확인</a:t>
            </a:r>
          </a:p>
          <a:p xmlns:a="http://schemas.openxmlformats.org/drawingml/2006/main">
            <a:r>
              <a:t>사용자 목록에서 ID, 이름, 활성 상태를 확인합니다. 잊은 비밀번호는 관리자가 초기화합니다.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캡처는 비밀번호 결과를 닫은 뒤의 화면입니다. 재등록만으로 기존 비밀번호와 제출 기록이 바뀌지는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과제 입력</a:t>
            </a:r>
          </a:p>
          <a:p xmlns:a="http://schemas.openxmlformats.org/drawingml/2006/main">
            <a:r>
              <a:t>과제 관리에서 ‘새 과제 추가’를 펼칩니다. 예시는 ‘1주차 실습 과제’입니다.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접수 시작</a:t>
            </a:r>
          </a:p>
          <a:p xmlns:a="http://schemas.openxmlformats.org/drawingml/2006/main">
            <a:r>
              <a:t>설명을 입력하고 ‘즉시 접수 시작’을 확인한 뒤 ‘과제 추가’를 누릅니다.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기본 과제를 수정해서 사용해도 됩니다. 여러 과제를 운영할 때는 학생에게 정확한 과제명을 안내하세요.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임시비밀번호 사용</a:t>
            </a:r>
          </a:p>
          <a:p xmlns:a="http://schemas.openxmlformats.org/drawingml/2006/main">
            <a:r>
              <a:t>학생은 전달받은 ID와 임시비밀번호로 로그인합니다. 예시 ID는 001입니다.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새 비밀번호 설정</a:t>
            </a:r>
          </a:p>
          <a:p xmlns:a="http://schemas.openxmlformats.org/drawingml/2006/main">
            <a:r>
              <a:t>현재 임시비밀번호와 새 비밀번호를 입력합니다. 변경 후 새 비밀번호로 다시 로그인합니다.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비밀번호는 12~128자이며 현재 값과 달라야 합니다. 변경을 마쳐야 과제를 제출할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연결 코드 발급</a:t>
            </a:r>
          </a:p>
          <a:p xmlns:a="http://schemas.openxmlformats.org/drawingml/2006/main">
            <a:r>
              <a:t>‘일회용 연결 코드 발급’을 누르고 코드를 복사합니다.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제출 창 열기</a:t>
            </a:r>
          </a:p>
          <a:p xmlns:a="http://schemas.openxmlformats.org/drawingml/2006/main">
            <a:r>
              <a:t>‘파일 제출·이어 올리기 화면 열기’를 누릅니다. 다음 화면에서 코드를 입력합니다.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코드는 120초 동안 한 번만 사용할 수 있습니다. 캡처에서는 코드 영역을 가렸습니다.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코드로 연결</a:t>
            </a:r>
          </a:p>
          <a:p xmlns:a="http://schemas.openxmlformats.org/drawingml/2006/main">
            <a:r>
              <a:t>복사한 코드를 입력하고 ‘코드로 연결’을 누릅니다.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계정으로 연결</a:t>
            </a:r>
          </a:p>
          <a:p xmlns:a="http://schemas.openxmlformats.org/drawingml/2006/main">
            <a:r>
              <a:t>코드가 만료되었거나 창을 다시 열었다면 같은 학생 ID와 새 비밀번호로 로그인해도 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다른 사람의 계정이나 연결 코드를 사용하지 마세요. 로그인 후 이름과 ID를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과제 확인</a:t>
            </a:r>
          </a:p>
          <a:p xmlns:a="http://schemas.openxmlformats.org/drawingml/2006/main">
            <a:r>
              <a:t>제출할 과제를 ‘1주차 실습 과제’로 선택합니다.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파일 확인</a:t>
            </a:r>
          </a:p>
          <a:p xmlns:a="http://schemas.openxmlformats.org/drawingml/2006/main">
            <a:r>
              <a:t>제출할 파일을 선택하고 이름, 개수, 총용량을 확인한 뒤 ‘제출 시작’을 누릅니다.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선택한 파일 전체가 하나의 제출 묶음입니다. 오른쪽에서 나의 사용량과 파일당 한도를 확인할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전송 상태 확인</a:t>
            </a:r>
          </a:p>
          <a:p xmlns:a="http://schemas.openxmlformats.org/drawingml/2006/main">
            <a:r>
              <a:t>예시에서는 전송 도중 연결을 끊고 일시 중지했습니다. 서버가 확정한 수신량을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창을 유지한 경우</a:t>
            </a:r>
          </a:p>
          <a:p xmlns:a="http://schemas.openxmlformats.org/drawingml/2006/main">
            <a:r>
              <a:t>네트워크를 복구한 뒤 ‘다시 시도’를 누릅니다. 완료 전까지 원본 파일을 보관합니다.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전송 중이거나 일시 중지된 작업은 제출 완료로 집계하지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작업 선택</a:t>
            </a:r>
          </a:p>
          <a:p xmlns:a="http://schemas.openxmlformats.org/drawingml/2006/main">
            <a:r>
              <a:t>다시 로그인하고 오른쪽의 ‘이 작업 이어 올리기’를 누릅니다.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다시 선택</a:t>
            </a:r>
          </a:p>
          <a:p xmlns:a="http://schemas.openxmlformats.org/drawingml/2006/main">
            <a:r>
              <a:t>처음 선택한 파일을 모두 다시 선택하고 ‘확인 후 이어 올리기’를 누릅니다.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파일 이름만 같아서는 안 됩니다. 내용이 바뀌었다면 새 제출로 시작해야 합니다. 기본 보관 시간은 24시간입니다.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완료 안내</a:t>
            </a:r>
          </a:p>
          <a:p xmlns:a="http://schemas.openxmlformats.org/drawingml/2006/main">
            <a:r>
              <a:t>‘제출이 완료되었습니다.’ 안내와 제출번호가 나타날 때까지 기다립니다.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제출 정보 기록</a:t>
            </a:r>
          </a:p>
          <a:p xmlns:a="http://schemas.openxmlformats.org/drawingml/2006/main">
            <a:r>
              <a:t>과제명, 파일명, 완료 시각을 확인합니다. 문의할 때 제출번호를 함께 전달합니다.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전송량이 100%여도 검증과 저장이 남아 있을 수 있습니다. 제출번호가 나온 묶음을 완료로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이력 확인</a:t>
            </a:r>
          </a:p>
          <a:p xmlns:a="http://schemas.openxmlformats.org/drawingml/2006/main">
            <a:r>
              <a:t>‘완료된 제출 이력’에서 과제명과 제출번호, 버전을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파일 확인</a:t>
            </a:r>
          </a:p>
          <a:p xmlns:a="http://schemas.openxmlformats.org/drawingml/2006/main">
            <a:r>
              <a:t>파일 옆 ‘다운로드’를 눌러 저장된 파일을 내려받습니다. 다시 제출한 파일은 새 버전으로 남습니다.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 예시에서는 실제 파일을 내려받아 원본과 내용이 같은지 확인했습니다.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과제 선택</a:t>
            </a:r>
          </a:p>
          <a:p xmlns:a="http://schemas.openxmlformats.org/drawingml/2006/main">
            <a:r>
              <a:t>‘제출 현황’에서 ‘1주차 실습 과제’를 선택합니다. 예시는 대상 2명 중 1명이 제출한 상태입니다.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후속 확인</a:t>
            </a:r>
          </a:p>
          <a:p xmlns:a="http://schemas.openxmlformats.org/drawingml/2006/main">
            <a:r>
              <a:t>미제출자 필터로 안내 대상을 찾습니다. 아래 완료 제출물을 펼쳐 파일과 보존 버전을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한 학생이 여러 번 제출해도 제출자는 1명으로 셉니다. CSV 준비 버튼으로 현황을 내려받을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사용량 확인</a:t>
            </a:r>
          </a:p>
          <a:p xmlns:a="http://schemas.openxmlformats.org/drawingml/2006/main">
            <a:r>
              <a:t>‘저장 공간·기록’에서 완료 사용량과 진행 중 예약 용량, 디스크 여유 공간을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공간 부족 대응</a:t>
            </a:r>
          </a:p>
          <a:p xmlns:a="http://schemas.openxmlformats.org/drawingml/2006/main">
            <a:r>
              <a:t>미완료 작업 상태를 확인하고 필요하면 학생이 해당 업로드를 취소합니다. 한도 변경은 서버 중지 후 진행합니다.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완료된 제출물은 자동 삭제하지 않습니다. 저장 폴더의 파일을 임의로 옮기거나 삭제하지 마세요.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작업 마무리</a:t>
            </a:r>
          </a:p>
          <a:p xmlns:a="http://schemas.openxmlformats.org/drawingml/2006/main">
            <a:r>
              <a:t>학생에게 전송 종료를 안내하고 제출 현황을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서버 중지</a:t>
            </a:r>
          </a:p>
          <a:p xmlns:a="http://schemas.openxmlformats.org/drawingml/2006/main">
            <a:r>
              <a:t>서버 관리창에서 해당 과정을 선택한 뒤 ‘서버 중지’를 누릅니다. 중지 상태를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관리창의 닫기 버튼만 누르면 서버는 계속 실행됩니다. 다음 수업은 관리창을 다시 열고 서버를 시작하세요.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중지 확인</a:t>
            </a:r>
          </a:p>
          <a:p xmlns:a="http://schemas.openxmlformats.org/drawingml/2006/main">
            <a:r>
              <a:t>서버 관리창에서 해당 과정이 중지 상태인지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함께 복사할 항목</a:t>
            </a:r>
          </a:p>
          <a:p xmlns:a="http://schemas.openxmlformats.org/drawingml/2006/main">
            <a:r>
              <a:t>instances의 과정 설정 JSON과 해당 과정의 저장 폴더 전체를 함께 복사합니다. 저장 폴더에는 DB, 인증 정보와 제출물이 들어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별도 위치에 보관</a:t>
            </a:r>
          </a:p>
          <a:p xmlns:a="http://schemas.openxmlformats.org/drawingml/2006/main">
            <a:r>
              <a:t>날짜별 백업 폴더를 사용하고 접근 권한을 제한합니다. 완료 제출물만 골라 복사하면 계정과 제출 이력을 함께 복구할 수 없습니다.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복원 시 확인</a:t>
            </a:r>
          </a:p>
          <a:p xmlns:a="http://schemas.openxmlformats.org/drawingml/2006/main">
            <a:r>
              <a:t>운영 문서의 복원 절차를 따릅니다. 기존 서버와 복원 서버가 같은 저장 폴더를 동시에 사용하지 않도록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실제 명단, 비밀번호 CSV, 데이터 폴더와 백업 파일은 GitHub에 올리지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로그인이 안 될 때</a:t>
            </a:r>
          </a:p>
          <a:p xmlns:a="http://schemas.openxmlformats.org/drawingml/2006/main">
            <a:r>
              <a:t>과정 주소와 ID를 확인합니다. 비밀번호를 잊었다면 관리자에게 초기화를 요청합니다.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다른 PC에서 접속이 안 될 때</a:t>
            </a:r>
          </a:p>
          <a:p xmlns:a="http://schemas.openxmlformats.org/drawingml/2006/main">
            <a:r>
              <a:t>서버 IP와 포트를 확인하고 서버 관리창의 접속 점검을 실행합니다. 127.0.0.1은 서버 자체 접속용입니다.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업로드를 이어 갈 수 없을 때</a:t>
            </a:r>
          </a:p>
          <a:p xmlns:a="http://schemas.openxmlformats.org/drawingml/2006/main">
            <a:r>
              <a:t>같은 계정과 원본 파일을 사용했는지 확인합니다. 취소하거나 보관 기간이 지난 작업은 새로 제출합니다.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화면과 상세 안내</a:t>
            </a:r>
          </a:p>
          <a:p xmlns:a="http://schemas.openxmlformats.org/drawingml/2006/main">
            <a:r>
              <a:t>README.md에서 설치 방법을, docs/admin-guide.md와 docs/user-guide.md에서 세부 운영 절차를 확인할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교실의 다른 PC 접속과 TLS 인증서 운영은 환경에 맞게 별도로 확인해야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701bcb10ae46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99f500f0e548ad" /><Relationship Type="http://schemas.openxmlformats.org/officeDocument/2006/relationships/slideLayout" Target="/ppt/slideLayouts/slideLayout1.xml" Id="R14a7f369feeb47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a7f369feeb47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40d886436425f" /><Relationship Type="http://schemas.openxmlformats.org/officeDocument/2006/relationships/notesSlide" Target="/ppt/notesSlides/notesSlide1.xml" Id="R26f1b1e3c28545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4b923ae4e42ea" /><Relationship Type="http://schemas.openxmlformats.org/officeDocument/2006/relationships/image" Target="/ppt/media/image.png" Id="R0a073fd031b24a2b" /><Relationship Type="http://schemas.openxmlformats.org/officeDocument/2006/relationships/notesSlide" Target="/ppt/notesSlides/notesSlide2.xml" Id="Re64289db44464a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8156574e440de" /><Relationship Type="http://schemas.openxmlformats.org/officeDocument/2006/relationships/image" Target="/ppt/media/image2.png" Id="R6f0b70d97a05481a" /><Relationship Type="http://schemas.openxmlformats.org/officeDocument/2006/relationships/notesSlide" Target="/ppt/notesSlides/notesSlide3.xml" Id="R97efb537874348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71e3c1de04f18" /><Relationship Type="http://schemas.openxmlformats.org/officeDocument/2006/relationships/image" Target="/ppt/media/image3.png" Id="Rbae9c742c4d543f3" /><Relationship Type="http://schemas.openxmlformats.org/officeDocument/2006/relationships/notesSlide" Target="/ppt/notesSlides/notesSlide4.xml" Id="R76b98879518741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9c981e2774503" /><Relationship Type="http://schemas.openxmlformats.org/officeDocument/2006/relationships/image" Target="/ppt/media/image4.png" Id="R708f906b5bd149b7" /><Relationship Type="http://schemas.openxmlformats.org/officeDocument/2006/relationships/notesSlide" Target="/ppt/notesSlides/notesSlide5.xml" Id="R1767821513a84b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e41024d8f4d78" /><Relationship Type="http://schemas.openxmlformats.org/officeDocument/2006/relationships/image" Target="/ppt/media/image5.png" Id="R8605e45c567e4665" /><Relationship Type="http://schemas.openxmlformats.org/officeDocument/2006/relationships/notesSlide" Target="/ppt/notesSlides/notesSlide6.xml" Id="Rdc0a73e10d3048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3f9bc54454c37" /><Relationship Type="http://schemas.openxmlformats.org/officeDocument/2006/relationships/image" Target="/ppt/media/image6.png" Id="R2de4586ae223461a" /><Relationship Type="http://schemas.openxmlformats.org/officeDocument/2006/relationships/notesSlide" Target="/ppt/notesSlides/notesSlide7.xml" Id="R5f971a4ca57749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ecc8101e74b4e" /><Relationship Type="http://schemas.openxmlformats.org/officeDocument/2006/relationships/image" Target="/ppt/media/image7.png" Id="R0a53d1c920dc4dc7" /><Relationship Type="http://schemas.openxmlformats.org/officeDocument/2006/relationships/notesSlide" Target="/ppt/notesSlides/notesSlide8.xml" Id="Rcf3ca6aece0346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2f0d68af34b22" /><Relationship Type="http://schemas.openxmlformats.org/officeDocument/2006/relationships/image" Target="/ppt/media/image8.png" Id="R1f2c2c882b0d49c4" /><Relationship Type="http://schemas.openxmlformats.org/officeDocument/2006/relationships/notesSlide" Target="/ppt/notesSlides/notesSlide9.xml" Id="Rdedce66a726e42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7dd29a7d74c92" /><Relationship Type="http://schemas.openxmlformats.org/officeDocument/2006/relationships/image" Target="/ppt/media/image9.png" Id="R2cb9a5664e7c4a6f" /><Relationship Type="http://schemas.openxmlformats.org/officeDocument/2006/relationships/notesSlide" Target="/ppt/notesSlides/notesSlide10.xml" Id="R99cc4f3f7a1c4c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ab2015d6d44f2" /><Relationship Type="http://schemas.openxmlformats.org/officeDocument/2006/relationships/image" Target="/ppt/media/image10.png" Id="R9d022ba2f1b74423" /><Relationship Type="http://schemas.openxmlformats.org/officeDocument/2006/relationships/notesSlide" Target="/ppt/notesSlides/notesSlide11.xml" Id="R99bddba14cee40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6db5231b54d65" /><Relationship Type="http://schemas.openxmlformats.org/officeDocument/2006/relationships/image" Target="/ppt/media/image11.png" Id="R0815bf3659c94f93" /><Relationship Type="http://schemas.openxmlformats.org/officeDocument/2006/relationships/notesSlide" Target="/ppt/notesSlides/notesSlide12.xml" Id="R89919276f126496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b3185e75b4415" /><Relationship Type="http://schemas.openxmlformats.org/officeDocument/2006/relationships/image" Target="/ppt/media/image12.png" Id="Rc1e45800a0374ade" /><Relationship Type="http://schemas.openxmlformats.org/officeDocument/2006/relationships/notesSlide" Target="/ppt/notesSlides/notesSlide13.xml" Id="Rea2a640ad32e4ad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2fce883094268" /><Relationship Type="http://schemas.openxmlformats.org/officeDocument/2006/relationships/image" Target="/ppt/media/image13.png" Id="R853c611ba32442d4" /><Relationship Type="http://schemas.openxmlformats.org/officeDocument/2006/relationships/notesSlide" Target="/ppt/notesSlides/notesSlide14.xml" Id="R66cab56e1fcc4b8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2c4195b684a83" /><Relationship Type="http://schemas.openxmlformats.org/officeDocument/2006/relationships/image" Target="/ppt/media/image14.png" Id="Rdb97c1416b0f4f33" /><Relationship Type="http://schemas.openxmlformats.org/officeDocument/2006/relationships/notesSlide" Target="/ppt/notesSlides/notesSlide15.xml" Id="Rd91e6fe1872e4d0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1f85ab65a43f2" /><Relationship Type="http://schemas.openxmlformats.org/officeDocument/2006/relationships/image" Target="/ppt/media/image15.png" Id="R85573e17d92e4d50" /><Relationship Type="http://schemas.openxmlformats.org/officeDocument/2006/relationships/notesSlide" Target="/ppt/notesSlides/notesSlide16.xml" Id="Rbce24d3ed981441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34719fe064377" /><Relationship Type="http://schemas.openxmlformats.org/officeDocument/2006/relationships/image" Target="/ppt/media/image16.png" Id="R62f3526beef342d1" /><Relationship Type="http://schemas.openxmlformats.org/officeDocument/2006/relationships/notesSlide" Target="/ppt/notesSlides/notesSlide17.xml" Id="R50b37e225d41409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a3baa2f5b4efb" /><Relationship Type="http://schemas.openxmlformats.org/officeDocument/2006/relationships/image" Target="/ppt/media/image17.png" Id="R3f4f75279ac44e27" /><Relationship Type="http://schemas.openxmlformats.org/officeDocument/2006/relationships/notesSlide" Target="/ppt/notesSlides/notesSlide18.xml" Id="R0e3d9e8e6cc948e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304e0da8e4880" /><Relationship Type="http://schemas.openxmlformats.org/officeDocument/2006/relationships/image" Target="/ppt/media/image18.png" Id="Rb5af1b97ee0642e6" /><Relationship Type="http://schemas.openxmlformats.org/officeDocument/2006/relationships/notesSlide" Target="/ppt/notesSlides/notesSlide19.xml" Id="Rdf9bb4d105bb4d8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a1f03da8f4acb" /><Relationship Type="http://schemas.openxmlformats.org/officeDocument/2006/relationships/image" Target="/ppt/media/image19.png" Id="R39eda55a606247a2" /><Relationship Type="http://schemas.openxmlformats.org/officeDocument/2006/relationships/notesSlide" Target="/ppt/notesSlides/notesSlide20.xml" Id="R93697c49dec84ff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9646ed54f4d35" /><Relationship Type="http://schemas.openxmlformats.org/officeDocument/2006/relationships/image" Target="/ppt/media/image20.png" Id="R0df9374912774b64" /><Relationship Type="http://schemas.openxmlformats.org/officeDocument/2006/relationships/notesSlide" Target="/ppt/notesSlides/notesSlide21.xml" Id="R18385f01e31e446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8e841296049bd" /><Relationship Type="http://schemas.openxmlformats.org/officeDocument/2006/relationships/image" Target="/ppt/media/image21.png" Id="R2949c88ef0354bf5" /><Relationship Type="http://schemas.openxmlformats.org/officeDocument/2006/relationships/notesSlide" Target="/ppt/notesSlides/notesSlide22.xml" Id="R64edfc740eec447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c3dd63ee74206" /><Relationship Type="http://schemas.openxmlformats.org/officeDocument/2006/relationships/notesSlide" Target="/ppt/notesSlides/notesSlide23.xml" Id="R37d2502f66ad478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303b262604f43" /><Relationship Type="http://schemas.openxmlformats.org/officeDocument/2006/relationships/notesSlide" Target="/ppt/notesSlides/notesSlide24.xml" Id="Ra843f22af29442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1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6DFB1-985A-40D3-AE8A-E80BBB01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1323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705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AssignmentHub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5EF82-6E09-4AE5-B0D5-A2173285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67075"/>
            <a:ext cx="1304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45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사용자 매뉴얼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26CD2-04C2-42A6-9F4B-0B37F225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1285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서버 운영과 학생의 과제 제출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E8B35-C9DD-4C42-B8B7-419CC1ED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72250"/>
            <a:ext cx="1143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파이썬 기초 실습 예시</a:t>
            </a:r>
          </a:p>
          <a:p xmlns:a="http://schemas.openxmlformats.org/drawingml/2006/main">
            <a:pPr>
              <a:defRPr sz="20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2026년 9월</a:t>
            </a:r>
          </a:p>
        </p:txBody>
      </p:sp>
    </p:spTree>
    <p:extLst>
      <p:ext uri="{BB962C8B-B14F-4D97-AF65-F5344CB8AC3E}">
        <p14:creationId xmlns:p14="http://schemas.microsoft.com/office/powerpoint/2010/main" val="9599098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E8586-60E9-4FF2-BD59-567B95E7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366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서버 관리창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471FA-9B7C-4A25-AAB7-088AE5C9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79057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7B2F1-5821-4499-9212-B0CC9571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실행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BF49E-6BE2-4C91-96F6-632B8910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서버 PC에서 start.bat를 두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번 클릭합니다. 처음에는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Python 3.12와 인터넷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연결이 필요합니다.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3C967-9437-4B06-B18E-E85DACE3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과정 추가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3E069-E26E-42C6-96B7-4EBD8A16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‘새 과정 만들기’를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누릅니다. 다음 실행부터는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저장한 과정이 목록에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나타납니다.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073fd031b24a2b"/>
          <a:stretch xmlns:a="http://schemas.openxmlformats.org/drawingml/2006/main"/>
        </p:blipFill>
        <p:spPr>
          <a:xfrm xmlns:a="http://schemas.openxmlformats.org/drawingml/2006/main">
            <a:off x="5152900" y="1476375"/>
            <a:ext cx="9029951" cy="6238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6982F5-189A-43AE-8A66-61C67AB3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77175"/>
            <a:ext cx="1328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설치 오류는 setup.bat의 메시지를 확인하세요. 학생 PC에는 설치하지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4461535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1039C-606D-43F6-889F-78CD8E45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366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새 과정의 접속 정보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B8C3C-5936-4674-9CE4-C5718F66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79057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0FE9CF-0E99-412D-ADBA-FB8B7701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기본 정보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36A42-1E9A-41FD-BFBF-B60FFB2F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과정명과 저장 폴더를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정합니다. 과정별로 ID,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포트, 저장 폴더를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구분합니다.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AE70B-121D-4DE1-998B-0538FE91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관리자 계정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467B9-31D5-42EC-8B6F-5D7772B7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관리자 ID와 12~128자의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비밀번호를 입력하고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확인란에도 같은 값을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입력합니다.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b70d97a05481a"/>
          <a:stretch xmlns:a="http://schemas.openxmlformats.org/drawingml/2006/main"/>
        </p:blipFill>
        <p:spPr>
          <a:xfrm xmlns:a="http://schemas.openxmlformats.org/drawingml/2006/main">
            <a:off x="6308481" y="1476375"/>
            <a:ext cx="6718788" cy="6238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3DF6E-FACE-4A77-870A-3AC28D6D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77175"/>
            <a:ext cx="1328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캡처의 127.0.0.1은 서버 PC 자체 접속용입니다. 교실에서는 학생에게 안내할 서버 IP를 입력하세요.</a:t>
            </a:r>
          </a:p>
        </p:txBody>
      </p:sp>
    </p:spTree>
    <p:extLst>
      <p:ext uri="{BB962C8B-B14F-4D97-AF65-F5344CB8AC3E}">
        <p14:creationId xmlns:p14="http://schemas.microsoft.com/office/powerpoint/2010/main" val="4888460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91AAC-18EE-4453-952B-42C63BAE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366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용량과 전송 설정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89C07-00AB-4E7A-B52A-A20C4DEA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79057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A67C6-401A-4DE1-A6FB-AD6E2B9E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초기 설정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DB060-1EE5-45AC-882F-D4E77CFC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파일당 2 GiB, 학생별 누적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10 GiB, 최소 여유 공간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5 GiB가 기본값입니다.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E0242-A3EE-44CA-B158-637E5CC3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수업에 맞게 조정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9F070-F647-4F8C-8C7A-15C80D98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묶음당 파일 수와 미완료 작업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보관 시간을 확인하고 ‘과정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만들기’를 누릅니다.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e9c742c4d543f3"/>
          <a:stretch xmlns:a="http://schemas.openxmlformats.org/drawingml/2006/main"/>
        </p:blipFill>
        <p:spPr>
          <a:xfrm xmlns:a="http://schemas.openxmlformats.org/drawingml/2006/main">
            <a:off x="6308481" y="1476375"/>
            <a:ext cx="6718788" cy="6238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DEC01C-6F3C-4AE1-BB46-7CB47DAA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77175"/>
            <a:ext cx="1328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이전 완료 버전도 학생의 누적 사용량에 포함됩니다. 설정 변경은 서버 중지 후 가능합니다.</a:t>
            </a:r>
          </a:p>
        </p:txBody>
      </p:sp>
    </p:spTree>
    <p:extLst>
      <p:ext uri="{BB962C8B-B14F-4D97-AF65-F5344CB8AC3E}">
        <p14:creationId xmlns:p14="http://schemas.microsoft.com/office/powerpoint/2010/main" val="8521738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3DA172-AEF9-4511-89BA-B95021DE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366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서버 시작과 주소 안내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8E5FF-1F25-4237-9069-0AE27A52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79057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FC4C3-444F-4CE3-AFC9-599F123A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서버 시작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45216-435A-42CD-9F4F-00D9EE73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목록에서 과정을 선택하고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‘서버 시작’을 누릅니다.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실행 중 상태가 될 때까지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기다립니다.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827DA-FA8F-465C-AD79-47E6C06D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접속 주소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61B37-BD17-4A32-B5EA-8A3D80E2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‘주소 복사’로 주소를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복사합니다. ‘관리자 화면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열기’로 관리자 화면에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접속합니다.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f906b5bd149b7"/>
          <a:stretch xmlns:a="http://schemas.openxmlformats.org/drawingml/2006/main"/>
        </p:blipFill>
        <p:spPr>
          <a:xfrm xmlns:a="http://schemas.openxmlformats.org/drawingml/2006/main">
            <a:off x="5152900" y="1476375"/>
            <a:ext cx="9029951" cy="6238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B13F17-199F-4E24-9D99-114FBDF2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77175"/>
            <a:ext cx="1328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실제 교실에서는 학생 PC에서 복사한 주소가 열리는지 먼저 확인하세요. 화면의 임의 포트는 예시입니다.</a:t>
            </a:r>
          </a:p>
        </p:txBody>
      </p:sp>
    </p:spTree>
    <p:extLst>
      <p:ext uri="{BB962C8B-B14F-4D97-AF65-F5344CB8AC3E}">
        <p14:creationId xmlns:p14="http://schemas.microsoft.com/office/powerpoint/2010/main" val="3065137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B5690-A6DF-42E3-BC48-7F0E4AB8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366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접속이 안 될 때의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4175D-EEE7-4962-95CC-053C6C0E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79057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90EBC-AE23-4F99-906D-D54EDAD5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진단 실행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A08D0-5F1C-4674-BFA9-F57F6A7B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서버 관리창에서 ‘접속·오류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점검’을 누릅니다. 저장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폴더와 서버 응답 결과를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27A4D-72EB-4526-AB64-E165D8CC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다른 PC에서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BD98F-C36B-4A92-9E25-A706922B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서버 IP와 해당 과정의 TCP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포트, 교육장 방화벽 설정을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5e45c567e4665"/>
          <a:stretch xmlns:a="http://schemas.openxmlformats.org/drawingml/2006/main"/>
        </p:blipFill>
        <p:spPr>
          <a:xfrm xmlns:a="http://schemas.openxmlformats.org/drawingml/2006/main">
            <a:off x="5130511" y="1476375"/>
            <a:ext cx="9074727" cy="6238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5C80D-D645-4B5C-8B81-2EE88B53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77175"/>
            <a:ext cx="1328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127.0.0.1은 다른 PC에 안내할 주소로 사용할 수 없습니다. 이 진단만으로 교실 네트워크 연결을 보장하지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6879612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7745D-9185-4D0B-B8D2-979CADDE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366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관리자 로그인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6D2CE-7AB8-4796-833B-35B55FE4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79057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C3AAE-D571-4E99-B163-689B4E3B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계정 입력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315A3-DD2A-44E2-9114-A7516B13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과정 생성 시 정한 관리자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ID와 비밀번호를 입력합니다.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2ADB8C-F15D-4F19-A27C-4ACDF983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접속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62796-FF46-4936-9A47-52550B51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로그인 후 왼쪽에 관리자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메뉴가 보이는지 확인합니다.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e4586ae223461a"/>
          <a:stretch xmlns:a="http://schemas.openxmlformats.org/drawingml/2006/main"/>
        </p:blipFill>
        <p:spPr>
          <a:xfrm xmlns:a="http://schemas.openxmlformats.org/drawingml/2006/main">
            <a:off x="5231342" y="1476375"/>
            <a:ext cx="8873067" cy="6238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3AB7F-6B0E-4FBA-A66E-184043DE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77175"/>
            <a:ext cx="1328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공통 기본 비밀번호는 없습니다. 과정을 만들 때 입력한 관리자 계정을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18385344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5A48A-D379-4287-8E4E-BB24B64A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366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수업 준비 화면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32884-4077-4205-A63A-AF93E153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79057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A103E7-1A3D-4066-A7CA-AF78FD05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명단 등록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3D5C3-556C-4010-9130-767B7488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운영 안내에서 ‘명단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등록·사용자 관리로 이동’을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누릅니다.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42A60B-4AE0-494E-BCC5-77B9B465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과제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B54220-E529-4F85-BF66-804353B2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명단 등록 후 ‘과제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관리’에서 수업에 사용할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과제와 접수 상태를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3d1c920dc4dc7"/>
          <a:stretch xmlns:a="http://schemas.openxmlformats.org/drawingml/2006/main"/>
        </p:blipFill>
        <p:spPr>
          <a:xfrm xmlns:a="http://schemas.openxmlformats.org/drawingml/2006/main">
            <a:off x="5231342" y="1476375"/>
            <a:ext cx="8873067" cy="6238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964D47-E4E7-4062-B917-03FEBCB5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77175"/>
            <a:ext cx="1328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예시 수업은 ‘파이썬 기초 실습’, 학생은 템플릿의 001과 002를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9266799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34285-9BCA-4FE2-B9C4-4D6729BA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366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엑셀 명단 미리보기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E6823-3CFE-48D4-B08A-7C053AC4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79057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98982-696D-4B22-89D4-86610106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템플릿 작성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4CB6D-7ADC-4500-AB87-6E2D4EB2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users 시트의 user_id와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name을 입력합니다. group은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선택이며 001 같은 ID는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텍스트로 유지합니다.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0C2FD-B934-4B71-AB95-A231B0E9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등록 전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6C341-423D-416C-888F-78886D56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파일을 올리고 ‘명단 검증 및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미리보기’를 누릅니다.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오류가 없으면 ‘검증된 명단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반영’을 누릅니다.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2c2c882b0d49c4"/>
          <a:stretch xmlns:a="http://schemas.openxmlformats.org/drawingml/2006/main"/>
        </p:blipFill>
        <p:spPr>
          <a:xfrm xmlns:a="http://schemas.openxmlformats.org/drawingml/2006/main">
            <a:off x="5231342" y="1476375"/>
            <a:ext cx="8873067" cy="6238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3221D6-2A6D-44E0-A7C5-D59C0B33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77175"/>
            <a:ext cx="1328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배포 템플릿의 001, 002는 예시입니다. 실제 사용 시 예시 행을 실제 명단으로 교체하세요.</a:t>
            </a:r>
          </a:p>
        </p:txBody>
      </p:sp>
    </p:spTree>
    <p:extLst>
      <p:ext uri="{BB962C8B-B14F-4D97-AF65-F5344CB8AC3E}">
        <p14:creationId xmlns:p14="http://schemas.microsoft.com/office/powerpoint/2010/main" val="18068516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8899D-DECD-4D1A-9870-7CB2A1B1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366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계정 등록과 비밀번호 전달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AC92A-E35A-41E9-9E04-4003CD3D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79057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73F46-ED62-4078-8354-CB6DC859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임시비밀번호 보관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401530-6FB3-4D74-B811-823A24D4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등록 직후 임시비밀번호 결과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CSV를 내려받고 학생별로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안전하게 전달합니다. 결과를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닫으면 다시 조회할 수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없습니다.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FD1A0-96B7-455F-BA3B-7A266E1A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등록 결과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015F0C-97C0-4871-A008-8C71CB84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사용자 목록에서 ID, 이름,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활성 상태를 확인합니다.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잊은 비밀번호는 관리자가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초기화합니다.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9a5664e7c4a6f"/>
          <a:stretch xmlns:a="http://schemas.openxmlformats.org/drawingml/2006/main"/>
        </p:blipFill>
        <p:spPr>
          <a:xfrm xmlns:a="http://schemas.openxmlformats.org/drawingml/2006/main">
            <a:off x="5231342" y="1476375"/>
            <a:ext cx="8873067" cy="6238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08F28-F38E-4D48-B760-9E2F8A4C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77175"/>
            <a:ext cx="1328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캡처는 비밀번호 결과를 닫은 뒤의 화면입니다. 재등록만으로 기존 비밀번호와 제출 기록이 바뀌지는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0806864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568F5-E649-4EAB-AA74-555D31F5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366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과제 만들기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490086-10D8-498D-A1E2-6CDD99C8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79057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BBBAF-E619-49EA-AF5D-77B353E2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과제 입력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32D4D-84CB-443A-9451-97408192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과제 관리에서 ‘새 과제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추가’를 펼칩니다. 예시는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‘1주차 실습 과제’입니다.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6BECB-65C7-45B7-B35C-D16682D3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접수 시작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F04BD-77AF-4C4E-AEA6-216A1F0D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설명을 입력하고 ‘즉시 접수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시작’을 확인한 뒤 ‘과제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추가’를 누릅니다.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22ba2f1b74423"/>
          <a:stretch xmlns:a="http://schemas.openxmlformats.org/drawingml/2006/main"/>
        </p:blipFill>
        <p:spPr>
          <a:xfrm xmlns:a="http://schemas.openxmlformats.org/drawingml/2006/main">
            <a:off x="5231342" y="1476375"/>
            <a:ext cx="8873067" cy="6238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1D3F41-FAE4-4B6A-BAF5-1346A69D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77175"/>
            <a:ext cx="1328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기본 과제를 수정해서 사용해도 됩니다. 여러 과제를 운영할 때는 학생에게 정확한 과제명을 안내하세요.</a:t>
            </a:r>
          </a:p>
        </p:txBody>
      </p:sp>
    </p:spTree>
    <p:extLst>
      <p:ext uri="{BB962C8B-B14F-4D97-AF65-F5344CB8AC3E}">
        <p14:creationId xmlns:p14="http://schemas.microsoft.com/office/powerpoint/2010/main" val="6131201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4E77BF-E749-4486-AA63-FC7FEE5E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366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학생의 첫 로그인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9A506-4DC3-4512-9263-ECCC32E9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79057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5B16F-F553-4794-8EF8-15B9B0D6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임시비밀번호 사용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92BAC-07BD-41CA-8460-EFEBDA01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학생은 전달받은 ID와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임시비밀번호로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로그인합니다. 예시 ID는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001입니다.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D6B7C-88BD-4733-B9DF-2AF894E2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새 비밀번호 설정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342BB-39AC-4254-9834-2A2C9D59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현재 임시비밀번호와 새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비밀번호를 입력합니다. 변경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후 새 비밀번호로 다시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로그인합니다.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5bf3659c94f93"/>
          <a:stretch xmlns:a="http://schemas.openxmlformats.org/drawingml/2006/main"/>
        </p:blipFill>
        <p:spPr>
          <a:xfrm xmlns:a="http://schemas.openxmlformats.org/drawingml/2006/main">
            <a:off x="5231342" y="1476375"/>
            <a:ext cx="8873067" cy="6238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D8CB3-9CD9-4798-9139-23378D2E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77175"/>
            <a:ext cx="1328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비밀번호는 12~128자이며 현재 값과 달라야 합니다. 변경을 마쳐야 과제를 제출할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4565643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6984C-447B-42E5-A9B3-7CFEC031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366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학생의 제출 화면 연결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729AA-9BB0-4B95-A89C-4D0B3B3C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79057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99AA9-D924-476B-90E0-D18AF7C9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연결 코드 발급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FBC8F-913E-47AC-AE59-8D8A6AAD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‘일회용 연결 코드 발급’을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누르고 코드를 복사합니다.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26DC7-CFF6-4335-8EA0-FF4CE4DA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제출 창 열기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1A434-5D26-41B8-816C-97E7041A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‘파일 제출·이어 올리기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화면 열기’를 누릅니다.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다음 화면에서 코드를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입력합니다.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45800a0374ade"/>
          <a:stretch xmlns:a="http://schemas.openxmlformats.org/drawingml/2006/main"/>
        </p:blipFill>
        <p:spPr>
          <a:xfrm xmlns:a="http://schemas.openxmlformats.org/drawingml/2006/main">
            <a:off x="5231342" y="1476375"/>
            <a:ext cx="8873067" cy="6238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6BB87-8F1B-4C16-9390-EA09C53D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77175"/>
            <a:ext cx="1328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코드는 120초 동안 한 번만 사용할 수 있습니다. 캡처에서는 코드 영역을 가렸습니다.</a:t>
            </a:r>
          </a:p>
        </p:txBody>
      </p:sp>
    </p:spTree>
    <p:extLst>
      <p:ext uri="{BB962C8B-B14F-4D97-AF65-F5344CB8AC3E}">
        <p14:creationId xmlns:p14="http://schemas.microsoft.com/office/powerpoint/2010/main" val="15389910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5E8011-B531-4AC1-A796-6B18B5BB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366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제출 창 로그인 방법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6635E-4094-4581-84CE-E90AA79F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79057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3C3ED-92D0-4E5F-B574-6FF8BCF4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코드로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10255-BCE4-4496-BCCA-4A555FA0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복사한 코드를 입력하고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‘코드로 연결’을 누릅니다.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8DDE5-5011-4108-805E-674DD832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계정으로 연결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4E1B7B-B7E0-473D-9BE2-E8DEFA49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코드가 만료되었거나 창을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다시 열었다면 같은 학생 ID와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새 비밀번호로 로그인해도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됩니다.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3c611ba32442d4"/>
          <a:stretch xmlns:a="http://schemas.openxmlformats.org/drawingml/2006/main"/>
        </p:blipFill>
        <p:spPr>
          <a:xfrm xmlns:a="http://schemas.openxmlformats.org/drawingml/2006/main">
            <a:off x="5231342" y="1476375"/>
            <a:ext cx="8873067" cy="6238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A5A886-FE60-4AA6-9689-67BEA334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77175"/>
            <a:ext cx="1328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다른 사람의 계정이나 연결 코드를 사용하지 마세요. 로그인 후 이름과 ID를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3983809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4BA8CF-A5C9-4EC4-AD2C-B722A5E7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366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과제와 파일 선택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93A1B-57D5-4B23-8B72-F7C011F7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79057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0189D-0CFE-4BFC-83CA-FB739923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과제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3FD6C-78A2-4A98-A25C-686A633C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제출할 과제를 ‘1주차 실습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과제’로 선택합니다.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DB928-801E-49AA-A943-F1C801BE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파일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3F961-026C-4D53-A311-213E2257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제출할 파일을 선택하고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이름, 개수, 총용량을 확인한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뒤 ‘제출 시작’을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누릅니다.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7c1416b0f4f33"/>
          <a:stretch xmlns:a="http://schemas.openxmlformats.org/drawingml/2006/main"/>
        </p:blipFill>
        <p:spPr>
          <a:xfrm xmlns:a="http://schemas.openxmlformats.org/drawingml/2006/main">
            <a:off x="5231342" y="1476375"/>
            <a:ext cx="8873067" cy="6238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94A26-5C9C-49D3-BF50-85B4D9DA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77175"/>
            <a:ext cx="1328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선택한 파일 전체가 하나의 제출 묶음입니다. 오른쪽에서 나의 사용량과 파일당 한도를 확인할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745232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6F3C8-DFA7-442D-8305-3A265C2D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366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전송 중단 상태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B3E66-A7D6-4AD3-883C-5CD32418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79057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B9F29-D61E-4669-B497-C2308A17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전송 상태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BB590-AF6B-4FF4-8436-BADC3D59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예시에서는 전송 도중 연결을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끊고 일시 중지했습니다.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서버가 확정한 수신량을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EEB3C-CE74-4B56-9E18-19D1078C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창을 유지한 경우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A848ED-0E0E-48D6-8ADB-DEA7B43C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네트워크를 복구한 뒤 ‘다시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시도’를 누릅니다. 완료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전까지 원본 파일을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보관합니다.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573e17d92e4d50"/>
          <a:stretch xmlns:a="http://schemas.openxmlformats.org/drawingml/2006/main"/>
        </p:blipFill>
        <p:spPr>
          <a:xfrm xmlns:a="http://schemas.openxmlformats.org/drawingml/2006/main">
            <a:off x="5231342" y="1476375"/>
            <a:ext cx="8873067" cy="6238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EB3E4D-9E1C-4DE4-87DA-118E1E02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77175"/>
            <a:ext cx="1328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전송 중이거나 일시 중지된 작업은 제출 완료로 집계하지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0835240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7AA3F3-2DD8-4086-A08A-8E2135B2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366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새로고침 후 이어 올리기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A4043-CB53-43AF-8A1A-CB8FA6D7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79057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DA918A-9BD7-4B0B-88CA-D5E284E3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기존 작업 선택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FE283-AF31-4BB6-9ED4-DC335597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다시 로그인하고 오른쪽의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‘이 작업 이어 올리기’를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누릅니다.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CF269-3C57-427B-BBFC-EE5FED5F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원본 다시 선택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9E823-6148-4295-860C-EE25CD19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처음 선택한 파일을 모두 다시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선택하고 ‘확인 후 이어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올리기’를 누릅니다.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f3526beef342d1"/>
          <a:stretch xmlns:a="http://schemas.openxmlformats.org/drawingml/2006/main"/>
        </p:blipFill>
        <p:spPr>
          <a:xfrm xmlns:a="http://schemas.openxmlformats.org/drawingml/2006/main">
            <a:off x="5231342" y="1476375"/>
            <a:ext cx="8873067" cy="6238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CD370-E25D-4531-84E9-8A592687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77175"/>
            <a:ext cx="1328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파일 이름만 같아서는 안 됩니다. 내용이 바뀌었다면 새 제출로 시작해야 합니다. 기본 보관 시간은 24시간입니다.</a:t>
            </a:r>
          </a:p>
        </p:txBody>
      </p:sp>
    </p:spTree>
    <p:extLst>
      <p:ext uri="{BB962C8B-B14F-4D97-AF65-F5344CB8AC3E}">
        <p14:creationId xmlns:p14="http://schemas.microsoft.com/office/powerpoint/2010/main" val="123824425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8A39D6-CE96-4DA0-8F41-9A0529ED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366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제출 완료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91B46-3A2B-487D-B7F1-09DFC117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79057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DEF49-4C0B-4F9E-A658-2A08AA77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완료 안내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25F53-5C70-48D3-ABC3-36BEB0A4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‘제출이 완료되었습니다.’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안내와 제출번호가 나타날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때까지 기다립니다.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5F5F5-0295-46DD-98D0-130C86E2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제출 정보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ADCA9-1ABA-42A1-80C4-B875662F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과제명, 파일명, 완료 시각을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확인합니다. 문의할 때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제출번호를 함께 전달합니다.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f75279ac44e27"/>
          <a:stretch xmlns:a="http://schemas.openxmlformats.org/drawingml/2006/main"/>
        </p:blipFill>
        <p:spPr>
          <a:xfrm xmlns:a="http://schemas.openxmlformats.org/drawingml/2006/main">
            <a:off x="5231342" y="1476375"/>
            <a:ext cx="8873067" cy="6238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4C21A-6104-41A7-9DF1-9D4916C9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77175"/>
            <a:ext cx="1328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전송량이 100%여도 검증과 저장이 남아 있을 수 있습니다. 제출번호가 나온 묶음을 완료로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08161380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C8798-7C30-41D8-ACC6-F3A30BB4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366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내 제출 이력과 다운로드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F94F0-14EB-4230-ABC5-E89F4DDA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79057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B77DD-8358-4396-980C-89BFA026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이력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D5F33E-DF41-443B-B446-C57119BE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‘완료된 제출 이력’에서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과제명과 제출번호, 버전을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E2812-D6E3-491C-9454-963A20DB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파일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4610B-53AC-406C-842F-99B42B43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파일 옆 ‘다운로드’를 눌러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저장된 파일을 내려받습니다.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다시 제출한 파일은 새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버전으로 남습니다.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af1b97ee0642e6"/>
          <a:stretch xmlns:a="http://schemas.openxmlformats.org/drawingml/2006/main"/>
        </p:blipFill>
        <p:spPr>
          <a:xfrm xmlns:a="http://schemas.openxmlformats.org/drawingml/2006/main">
            <a:off x="5231342" y="1476375"/>
            <a:ext cx="8873067" cy="6238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DC817C-FAC1-4BA6-B209-3D40BF95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77175"/>
            <a:ext cx="1328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이 예시에서는 실제 파일을 내려받아 원본과 내용이 같은지 확인했습니다.</a:t>
            </a:r>
          </a:p>
        </p:txBody>
      </p:sp>
    </p:spTree>
    <p:extLst>
      <p:ext uri="{BB962C8B-B14F-4D97-AF65-F5344CB8AC3E}">
        <p14:creationId xmlns:p14="http://schemas.microsoft.com/office/powerpoint/2010/main" val="196024114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82C74-465B-4569-8CC6-65AC5015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366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관리자의 제출 현황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25091-9675-4D53-8E30-D05EDB26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79057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553C6-063D-4E4F-9BD7-34F9857B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과제 선택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4C51D-50AF-4C19-B066-E2E1C7F3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‘제출 현황’에서 ‘1주차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실습 과제’를 선택합니다.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예시는 대상 2명 중 1명이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제출한 상태입니다.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28B94-1AF6-445C-B924-605C889E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후속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864F0-223A-4DBD-8512-0C4138D3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미제출자 필터로 안내 대상을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찾습니다. 아래 완료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제출물을 펼쳐 파일과 보존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버전을 확인합니다.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da55a606247a2"/>
          <a:stretch xmlns:a="http://schemas.openxmlformats.org/drawingml/2006/main"/>
        </p:blipFill>
        <p:spPr>
          <a:xfrm xmlns:a="http://schemas.openxmlformats.org/drawingml/2006/main">
            <a:off x="5231342" y="1476375"/>
            <a:ext cx="8873067" cy="6238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AD54DF-DBDE-4DC2-86AF-A2C747B8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77175"/>
            <a:ext cx="1328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한 학생이 여러 번 제출해도 제출자는 1명으로 셉니다. CSV 준비 버튼으로 현황을 내려받을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974807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6DC1A-0D23-4DB3-B8F2-A755011A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366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저장 공간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9BC10-3AC6-4633-80FC-2638F3E1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79057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9B1E5-A09A-4404-9B74-C3A29BD3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사용량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2D9D7-889B-45B8-8A10-9E97353C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‘저장 공간·기록’에서 완료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사용량과 진행 중 예약 용량,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디스크 여유 공간을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E6B70-0D95-495C-85F6-8D5CF0D8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공간 부족 대응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C75FE4-CA3A-4261-9095-37F59136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미완료 작업 상태를 확인하고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필요하면 학생이 해당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업로드를 취소합니다. 한도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변경은 서버 중지 후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진행합니다.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f9374912774b64"/>
          <a:stretch xmlns:a="http://schemas.openxmlformats.org/drawingml/2006/main"/>
        </p:blipFill>
        <p:spPr>
          <a:xfrm xmlns:a="http://schemas.openxmlformats.org/drawingml/2006/main">
            <a:off x="5231342" y="1476375"/>
            <a:ext cx="8873067" cy="6238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AB23C-E557-492D-A962-87A460BF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77175"/>
            <a:ext cx="1328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완료된 제출물은 자동 삭제하지 않습니다. 저장 폴더의 파일을 임의로 옮기거나 삭제하지 마세요.</a:t>
            </a:r>
          </a:p>
        </p:txBody>
      </p:sp>
    </p:spTree>
    <p:extLst>
      <p:ext uri="{BB962C8B-B14F-4D97-AF65-F5344CB8AC3E}">
        <p14:creationId xmlns:p14="http://schemas.microsoft.com/office/powerpoint/2010/main" val="867542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1A5FB7-1E6E-4D9A-BAFF-D1354B92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366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수업 종료와 서버 중지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E8CF7-DDF1-4CCC-A0C4-0333E438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79057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818A8-E1C5-47F6-8860-5E6ABDD1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작업 마무리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C10DE-37BF-4C56-8DB0-74C12D37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학생에게 전송 종료를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안내하고 제출 현황을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496D4-C523-4BBE-8D1D-B770DB1B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서버 중지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56BF6-6495-4B71-96BD-5F17D900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3905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서버 관리창에서 해당 과정을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선택한 뒤 ‘서버 중지’를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누릅니다. 중지 상태를</a:t>
            </a:r>
          </a:p>
          <a:p xmlns:a="http://schemas.openxmlformats.org/drawingml/2006/main">
            <a:pPr>
              <a:def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49c88ef0354bf5"/>
          <a:stretch xmlns:a="http://schemas.openxmlformats.org/drawingml/2006/main"/>
        </p:blipFill>
        <p:spPr>
          <a:xfrm xmlns:a="http://schemas.openxmlformats.org/drawingml/2006/main">
            <a:off x="5152900" y="1476375"/>
            <a:ext cx="9029951" cy="6238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5D4569-C625-4F71-B79C-6352691C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77175"/>
            <a:ext cx="1328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관리창의 닫기 버튼만 누르면 서버는 계속 실행됩니다. 다음 수업은 관리창을 다시 열고 서버를 시작하세요.</a:t>
            </a:r>
          </a:p>
        </p:txBody>
      </p:sp>
    </p:spTree>
    <p:extLst>
      <p:ext uri="{BB962C8B-B14F-4D97-AF65-F5344CB8AC3E}">
        <p14:creationId xmlns:p14="http://schemas.microsoft.com/office/powerpoint/2010/main" val="71570543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499A5E-3A70-4D2E-B065-BBD252F3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366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중지 후 백업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3ECDB-E9B9-4DA1-9274-CD2CC760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79057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C56FC-397F-4690-B8EE-10CA9A45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1. 중지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04C16-0D2D-4F6D-B256-BB560631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6286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서버 관리창에서 해당 과정이 중지 상태인지</a:t>
            </a:r>
          </a:p>
          <a:p xmlns:a="http://schemas.openxmlformats.org/drawingml/2006/main">
            <a:pPr>
              <a:def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0C2928-E32F-46D5-B8F0-87B1BAC4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2880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2. 함께 복사할 항목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5A047-CCC1-416A-94D4-7ADF82A8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62225"/>
            <a:ext cx="6286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instances의 과정 설정 JSON과 해당 과정의</a:t>
            </a:r>
          </a:p>
          <a:p xmlns:a="http://schemas.openxmlformats.org/drawingml/2006/main">
            <a:pPr>
              <a:def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저장 폴더 전체를 함께 복사합니다. 저장</a:t>
            </a:r>
          </a:p>
          <a:p xmlns:a="http://schemas.openxmlformats.org/drawingml/2006/main">
            <a:pPr>
              <a:def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폴더에는 DB, 인증 정보와 제출물이 들어</a:t>
            </a:r>
          </a:p>
          <a:p xmlns:a="http://schemas.openxmlformats.org/drawingml/2006/main">
            <a:pPr>
              <a:def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463051-06D7-4618-8C26-789576F9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3. 별도 위치에 보관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56A3F-19A1-47A7-958E-91767611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6286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날짜별 백업 폴더를 사용하고 접근 권한을</a:t>
            </a:r>
          </a:p>
          <a:p xmlns:a="http://schemas.openxmlformats.org/drawingml/2006/main">
            <a:pPr>
              <a:def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제한합니다. 완료 제출물만 골라 복사하면</a:t>
            </a:r>
          </a:p>
          <a:p xmlns:a="http://schemas.openxmlformats.org/drawingml/2006/main">
            <a:pPr>
              <a:def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계정과 제출 이력을 함께 복구할 수 없습니다.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0D1E70-ECCD-46CD-8885-7C84B07A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19625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4. 복원 시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E8625A-56E9-4A53-AEE8-2DB679BC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353050"/>
            <a:ext cx="6286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운영 문서의 복원 절차를 따릅니다. 기존</a:t>
            </a:r>
          </a:p>
          <a:p xmlns:a="http://schemas.openxmlformats.org/drawingml/2006/main">
            <a:pPr>
              <a:def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서버와 복원 서버가 같은 저장 폴더를 동시에</a:t>
            </a:r>
          </a:p>
          <a:p xmlns:a="http://schemas.openxmlformats.org/drawingml/2006/main">
            <a:pPr>
              <a:def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사용하지 않도록 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9B13A-391B-475C-B1F2-DFB8F68D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39075"/>
            <a:ext cx="1323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실제 명단, 비밀번호 CSV, 데이터 폴더와 백업 파일은 GitHub에 올리지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2259720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BC38F5-091A-43CE-9CD9-73CF1015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366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자주 생기는 상황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DBEFE-0E21-4864-9C1A-80F8C669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79057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D8D37-C37D-4B8A-9F92-4A89AFAF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로그인이 안 될 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E9D06-2B89-4403-A5F0-3404C8D6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6286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과정 주소와 ID를 확인합니다. 비밀번호를</a:t>
            </a:r>
          </a:p>
          <a:p xmlns:a="http://schemas.openxmlformats.org/drawingml/2006/main">
            <a:pPr>
              <a:def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잊었다면 관리자에게 초기화를 요청합니다.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B0D33-6E7F-4420-AFE2-E0FC4204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2880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다른 PC에서 접속이 안 될 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8C161-22ED-4551-84B1-68EBD741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62225"/>
            <a:ext cx="6286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서버 IP와 포트를 확인하고 서버 관리창의</a:t>
            </a:r>
          </a:p>
          <a:p xmlns:a="http://schemas.openxmlformats.org/drawingml/2006/main">
            <a:pPr>
              <a:def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접속 점검을 실행합니다. 127.0.0.1은 서버</a:t>
            </a:r>
          </a:p>
          <a:p xmlns:a="http://schemas.openxmlformats.org/drawingml/2006/main">
            <a:pPr>
              <a:def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자체 접속용입니다.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D69C8-9F86-424F-8E50-9E0AF6A7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업로드를 이어 갈 수 없을 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11D92-6527-4A6E-BB26-8C707325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6286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같은 계정과 원본 파일을 사용했는지</a:t>
            </a:r>
          </a:p>
          <a:p xmlns:a="http://schemas.openxmlformats.org/drawingml/2006/main">
            <a:pPr>
              <a:def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확인합니다. 취소하거나 보관 기간이 지난</a:t>
            </a:r>
          </a:p>
          <a:p xmlns:a="http://schemas.openxmlformats.org/drawingml/2006/main">
            <a:pPr>
              <a:def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작업은 새로 제출합니다.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A8219D-A421-4090-A571-CCE85067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19625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684F"/>
                </a:solidFill>
                <a:latin typeface="Malgun Gothic"/>
                <a:ea typeface="Malgun Gothic"/>
                <a:cs typeface="Malgun Gothic"/>
              </a:rPr>
              <a:t>화면과 상세 안내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73182-C3F7-41D9-8D77-F7B14B75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353050"/>
            <a:ext cx="6286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README.md에서 설치 방법을,</a:t>
            </a:r>
          </a:p>
          <a:p xmlns:a="http://schemas.openxmlformats.org/drawingml/2006/main">
            <a:pPr>
              <a:def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docs/admin-guide.md와</a:t>
            </a:r>
          </a:p>
          <a:p xmlns:a="http://schemas.openxmlformats.org/drawingml/2006/main">
            <a:pPr>
              <a:def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docs/user-guide.md에서 세부 운영 절차를</a:t>
            </a:r>
          </a:p>
          <a:p xmlns:a="http://schemas.openxmlformats.org/drawingml/2006/main">
            <a:pPr>
              <a:def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3E2E"/>
                </a:solidFill>
                <a:latin typeface="Malgun Gothic"/>
                <a:ea typeface="Malgun Gothic"/>
                <a:cs typeface="Malgun Gothic"/>
              </a:rPr>
              <a:t>확인할 수 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ECABC-5794-46BD-86F8-03CA41E5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39075"/>
            <a:ext cx="1323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5B"/>
                </a:solidFill>
                <a:latin typeface="Malgun Gothic"/>
                <a:ea typeface="Malgun Gothic"/>
                <a:cs typeface="Malgun Gothic"/>
              </a:rPr>
              <a:t>교실의 다른 PC 접속과 TLS 인증서 운영은 환경에 맞게 별도로 확인해야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4679668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2026-09-07T18:26:00.1850000Z</dcterms:created>
  <dcterms:modified xsi:type="dcterms:W3CDTF">2026-09-07T18:26:00.1850000Z</dcterms:modified>
</coreProperties>
</file>